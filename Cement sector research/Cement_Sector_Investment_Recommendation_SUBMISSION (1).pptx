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1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1.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2.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3.xml" ContentType="application/vnd.openxmlformats-officedocument.drawingml.chart+xml"/>
  <Override PartName="/ppt/notesSlides/notesSlide15.xml" ContentType="application/vnd.openxmlformats-officedocument.presentationml.notesSlide+xml"/>
  <Override PartName="/ppt/charts/chart14.xml" ContentType="application/vnd.openxmlformats-officedocument.drawingml.chart+xml"/>
  <Override PartName="/ppt/notesSlides/notesSlide16.xml" ContentType="application/vnd.openxmlformats-officedocument.presentationml.notesSlide+xml"/>
  <Override PartName="/ppt/charts/chart15.xml" ContentType="application/vnd.openxmlformats-officedocument.drawingml.chart+xml"/>
  <Override PartName="/ppt/notesSlides/notesSlide17.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notesSlides/notesSlide18.xml" ContentType="application/vnd.openxmlformats-officedocument.presentationml.notesSlide+xml"/>
  <Override PartName="/ppt/charts/chart18.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5" d="100"/>
          <a:sy n="115"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Industry installed capacity (MTPA)</a:t>
            </a:r>
          </a:p>
        </c:rich>
      </c:tx>
      <c:overlay val="0"/>
    </c:title>
    <c:autoTitleDeleted val="0"/>
    <c:plotArea>
      <c:layout/>
      <c:barChart>
        <c:barDir val="col"/>
        <c:grouping val="clustered"/>
        <c:varyColors val="0"/>
        <c:ser>
          <c:idx val="0"/>
          <c:order val="0"/>
          <c:tx>
            <c:strRef>
              <c:f>Sheet1!$B$1</c:f>
              <c:strCache>
                <c:ptCount val="1"/>
                <c:pt idx="0">
                  <c:v>Industry capacity (MTPA)</c:v>
                </c:pt>
              </c:strCache>
            </c:strRef>
          </c:tx>
          <c:spPr>
            <a:solidFill>
              <a:srgbClr val="1F3A5F"/>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FY25</c:v>
                </c:pt>
                <c:pt idx="1">
                  <c:v>FY26</c:v>
                </c:pt>
                <c:pt idx="2">
                  <c:v>FY29E</c:v>
                </c:pt>
              </c:strCache>
            </c:strRef>
          </c:cat>
          <c:val>
            <c:numRef>
              <c:f>Sheet1!$B$2:$B$4</c:f>
              <c:numCache>
                <c:formatCode>General</c:formatCode>
                <c:ptCount val="3"/>
                <c:pt idx="0">
                  <c:v>654</c:v>
                </c:pt>
                <c:pt idx="1">
                  <c:v>702</c:v>
                </c:pt>
                <c:pt idx="2">
                  <c:v>867</c:v>
                </c:pt>
              </c:numCache>
            </c:numRef>
          </c:val>
          <c:extLst>
            <c:ext xmlns:c16="http://schemas.microsoft.com/office/drawing/2014/chart" uri="{C3380CC4-5D6E-409C-BE32-E72D297353CC}">
              <c16:uniqueId val="{00000000-17FA-4828-87EC-FDE81815D0E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US" sz="1100" b="0" i="0" u="none" strike="noStrike">
                <a:solidFill>
                  <a:srgbClr val="222B36"/>
                </a:solidFill>
                <a:latin typeface="Arial"/>
              </a:rPr>
              <a:t>Industry OPBITDA per tonne, mid-point (Rs)</a:t>
            </a:r>
          </a:p>
        </c:rich>
      </c:tx>
      <c:overlay val="0"/>
    </c:title>
    <c:autoTitleDeleted val="0"/>
    <c:plotArea>
      <c:layout/>
      <c:barChart>
        <c:barDir val="col"/>
        <c:grouping val="clustered"/>
        <c:varyColors val="0"/>
        <c:ser>
          <c:idx val="0"/>
          <c:order val="0"/>
          <c:tx>
            <c:strRef>
              <c:f>Sheet1!$B$1</c:f>
              <c:strCache>
                <c:ptCount val="1"/>
                <c:pt idx="0">
                  <c:v>OPBITDA per tonne (Rs)</c:v>
                </c:pt>
              </c:strCache>
            </c:strRef>
          </c:tx>
          <c:spPr>
            <a:solidFill>
              <a:srgbClr val="2A9D8F"/>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FY26 est.</c:v>
                </c:pt>
                <c:pt idx="1">
                  <c:v>FY27E</c:v>
                </c:pt>
              </c:strCache>
            </c:strRef>
          </c:cat>
          <c:val>
            <c:numRef>
              <c:f>Sheet1!$B$2:$B$3</c:f>
              <c:numCache>
                <c:formatCode>General</c:formatCode>
                <c:ptCount val="2"/>
                <c:pt idx="0">
                  <c:v>965</c:v>
                </c:pt>
                <c:pt idx="1">
                  <c:v>845</c:v>
                </c:pt>
              </c:numCache>
            </c:numRef>
          </c:val>
          <c:extLst>
            <c:ext xmlns:c16="http://schemas.microsoft.com/office/drawing/2014/chart" uri="{C3380CC4-5D6E-409C-BE32-E72D297353CC}">
              <c16:uniqueId val="{00000000-F416-4F37-8FD4-6D53620F1BF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US" sz="1100" b="0" i="0" u="none" strike="noStrike">
                <a:solidFill>
                  <a:srgbClr val="222B36"/>
                </a:solidFill>
                <a:latin typeface="Arial"/>
              </a:rPr>
              <a:t>Installed vs target capacity (MTPA)</a:t>
            </a:r>
          </a:p>
        </c:rich>
      </c:tx>
      <c:overlay val="0"/>
    </c:title>
    <c:autoTitleDeleted val="0"/>
    <c:plotArea>
      <c:layout/>
      <c:barChart>
        <c:barDir val="col"/>
        <c:grouping val="clustered"/>
        <c:varyColors val="0"/>
        <c:ser>
          <c:idx val="0"/>
          <c:order val="0"/>
          <c:tx>
            <c:strRef>
              <c:f>Sheet1!$B$1</c:f>
              <c:strCache>
                <c:ptCount val="1"/>
                <c:pt idx="0">
                  <c:v>Installed</c:v>
                </c:pt>
              </c:strCache>
            </c:strRef>
          </c:tx>
          <c:spPr>
            <a:solidFill>
              <a:srgbClr val="5B84B1"/>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200.1</c:v>
                </c:pt>
                <c:pt idx="1">
                  <c:v>69.3</c:v>
                </c:pt>
                <c:pt idx="2">
                  <c:v>109</c:v>
                </c:pt>
                <c:pt idx="3">
                  <c:v>32.26</c:v>
                </c:pt>
                <c:pt idx="4">
                  <c:v>54.7</c:v>
                </c:pt>
              </c:numCache>
            </c:numRef>
          </c:val>
          <c:extLst>
            <c:ext xmlns:c16="http://schemas.microsoft.com/office/drawing/2014/chart" uri="{C3380CC4-5D6E-409C-BE32-E72D297353CC}">
              <c16:uniqueId val="{00000000-9342-4FCD-BE76-F55276460CED}"/>
            </c:ext>
          </c:extLst>
        </c:ser>
        <c:ser>
          <c:idx val="1"/>
          <c:order val="1"/>
          <c:tx>
            <c:strRef>
              <c:f>Sheet1!$C$1</c:f>
              <c:strCache>
                <c:ptCount val="1"/>
                <c:pt idx="0">
                  <c:v>Target</c:v>
                </c:pt>
              </c:strCache>
            </c:strRef>
          </c:tx>
          <c:spPr>
            <a:solidFill>
              <a:srgbClr val="1F3A5F"/>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240</c:v>
                </c:pt>
                <c:pt idx="1">
                  <c:v>80</c:v>
                </c:pt>
                <c:pt idx="2">
                  <c:v>119</c:v>
                </c:pt>
                <c:pt idx="3">
                  <c:v>50</c:v>
                </c:pt>
                <c:pt idx="4">
                  <c:v>67</c:v>
                </c:pt>
              </c:numCache>
            </c:numRef>
          </c:val>
          <c:extLst>
            <c:ext xmlns:c16="http://schemas.microsoft.com/office/drawing/2014/chart" uri="{C3380CC4-5D6E-409C-BE32-E72D297353CC}">
              <c16:uniqueId val="{00000001-9342-4FCD-BE76-F55276460CE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US" sz="1100" b="0" i="0" u="none" strike="noStrike">
                <a:solidFill>
                  <a:srgbClr val="222B36"/>
                </a:solidFill>
                <a:latin typeface="Arial"/>
              </a:rPr>
              <a:t>FY26 EBITDA per MTPA of capacity (Rs Cr)</a:t>
            </a:r>
          </a:p>
        </c:rich>
      </c:tx>
      <c:overlay val="0"/>
    </c:title>
    <c:autoTitleDeleted val="0"/>
    <c:plotArea>
      <c:layout/>
      <c:barChart>
        <c:barDir val="col"/>
        <c:grouping val="clustered"/>
        <c:varyColors val="0"/>
        <c:ser>
          <c:idx val="0"/>
          <c:order val="0"/>
          <c:tx>
            <c:strRef>
              <c:f>Sheet1!$B$1</c:f>
              <c:strCache>
                <c:ptCount val="1"/>
                <c:pt idx="0">
                  <c:v>EBITDA per MTPA</c:v>
                </c:pt>
              </c:strCache>
            </c:strRef>
          </c:tx>
          <c:spPr>
            <a:solidFill>
              <a:srgbClr val="2A9D8F"/>
            </a:solidFill>
            <a:effectLst/>
          </c:spPr>
          <c:invertIfNegative val="0"/>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85</c:v>
                </c:pt>
                <c:pt idx="1">
                  <c:v>67</c:v>
                </c:pt>
                <c:pt idx="2">
                  <c:v>58</c:v>
                </c:pt>
                <c:pt idx="3">
                  <c:v>74</c:v>
                </c:pt>
                <c:pt idx="4">
                  <c:v>56</c:v>
                </c:pt>
              </c:numCache>
            </c:numRef>
          </c:val>
          <c:extLst>
            <c:ext xmlns:c16="http://schemas.microsoft.com/office/drawing/2014/chart" uri="{C3380CC4-5D6E-409C-BE32-E72D297353CC}">
              <c16:uniqueId val="{00000000-D37C-425E-A8FA-49D45551A9D3}"/>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Revenue (Rs Cr)</a:t>
            </a:r>
          </a:p>
        </c:rich>
      </c:tx>
      <c:overlay val="0"/>
    </c:title>
    <c:autoTitleDeleted val="0"/>
    <c:plotArea>
      <c:layout/>
      <c:barChart>
        <c:barDir val="col"/>
        <c:grouping val="clustered"/>
        <c:varyColors val="0"/>
        <c:ser>
          <c:idx val="0"/>
          <c:order val="0"/>
          <c:tx>
            <c:strRef>
              <c:f>Sheet1!$B$1</c:f>
              <c:strCache>
                <c:ptCount val="1"/>
                <c:pt idx="0">
                  <c:v>FY24</c:v>
                </c:pt>
              </c:strCache>
            </c:strRef>
          </c:tx>
          <c:spPr>
            <a:solidFill>
              <a:srgbClr val="9FB6CF"/>
            </a:solidFill>
            <a:effectLst/>
          </c:spPr>
          <c:invertIfNegative val="0"/>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70908</c:v>
                </c:pt>
                <c:pt idx="1">
                  <c:v>20404</c:v>
                </c:pt>
                <c:pt idx="2">
                  <c:v>33160</c:v>
                </c:pt>
                <c:pt idx="3">
                  <c:v>11556</c:v>
                </c:pt>
                <c:pt idx="4">
                  <c:v>14691</c:v>
                </c:pt>
              </c:numCache>
            </c:numRef>
          </c:val>
          <c:extLst>
            <c:ext xmlns:c16="http://schemas.microsoft.com/office/drawing/2014/chart" uri="{C3380CC4-5D6E-409C-BE32-E72D297353CC}">
              <c16:uniqueId val="{00000000-6600-4070-AC37-F876C6A4AE5A}"/>
            </c:ext>
          </c:extLst>
        </c:ser>
        <c:ser>
          <c:idx val="1"/>
          <c:order val="1"/>
          <c:tx>
            <c:strRef>
              <c:f>Sheet1!$C$1</c:f>
              <c:strCache>
                <c:ptCount val="1"/>
                <c:pt idx="0">
                  <c:v>FY25</c:v>
                </c:pt>
              </c:strCache>
            </c:strRef>
          </c:tx>
          <c:spPr>
            <a:solidFill>
              <a:srgbClr val="5B84B1"/>
            </a:solidFill>
            <a:effectLst/>
          </c:spPr>
          <c:invertIfNegative val="0"/>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75955</c:v>
                </c:pt>
                <c:pt idx="1">
                  <c:v>19283</c:v>
                </c:pt>
                <c:pt idx="2">
                  <c:v>35336</c:v>
                </c:pt>
                <c:pt idx="3">
                  <c:v>11879</c:v>
                </c:pt>
                <c:pt idx="4">
                  <c:v>13980</c:v>
                </c:pt>
              </c:numCache>
            </c:numRef>
          </c:val>
          <c:extLst>
            <c:ext xmlns:c16="http://schemas.microsoft.com/office/drawing/2014/chart" uri="{C3380CC4-5D6E-409C-BE32-E72D297353CC}">
              <c16:uniqueId val="{00000001-6600-4070-AC37-F876C6A4AE5A}"/>
            </c:ext>
          </c:extLst>
        </c:ser>
        <c:ser>
          <c:idx val="2"/>
          <c:order val="2"/>
          <c:tx>
            <c:strRef>
              <c:f>Sheet1!$D$1</c:f>
              <c:strCache>
                <c:ptCount val="1"/>
                <c:pt idx="0">
                  <c:v>FY26</c:v>
                </c:pt>
              </c:strCache>
            </c:strRef>
          </c:tx>
          <c:spPr>
            <a:solidFill>
              <a:srgbClr val="1F3A5F"/>
            </a:solidFill>
            <a:effectLst/>
          </c:spPr>
          <c:invertIfNegative val="0"/>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88512</c:v>
                </c:pt>
                <c:pt idx="1">
                  <c:v>20943</c:v>
                </c:pt>
                <c:pt idx="2">
                  <c:v>40656</c:v>
                </c:pt>
                <c:pt idx="3">
                  <c:v>13722</c:v>
                </c:pt>
                <c:pt idx="4">
                  <c:v>14804</c:v>
                </c:pt>
              </c:numCache>
            </c:numRef>
          </c:val>
          <c:extLst>
            <c:ext xmlns:c16="http://schemas.microsoft.com/office/drawing/2014/chart" uri="{C3380CC4-5D6E-409C-BE32-E72D297353CC}">
              <c16:uniqueId val="{00000002-6600-4070-AC37-F876C6A4AE5A}"/>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PAT (Rs Cr)</a:t>
            </a:r>
          </a:p>
        </c:rich>
      </c:tx>
      <c:overlay val="0"/>
    </c:title>
    <c:autoTitleDeleted val="0"/>
    <c:plotArea>
      <c:layout/>
      <c:barChart>
        <c:barDir val="col"/>
        <c:grouping val="clustered"/>
        <c:varyColors val="0"/>
        <c:ser>
          <c:idx val="0"/>
          <c:order val="0"/>
          <c:tx>
            <c:strRef>
              <c:f>Sheet1!$B$1</c:f>
              <c:strCache>
                <c:ptCount val="1"/>
                <c:pt idx="0">
                  <c:v>FY24</c:v>
                </c:pt>
              </c:strCache>
            </c:strRef>
          </c:tx>
          <c:spPr>
            <a:solidFill>
              <a:srgbClr val="9FB6CF"/>
            </a:solidFill>
            <a:effectLst/>
          </c:spPr>
          <c:invertIfNegative val="0"/>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7005</c:v>
                </c:pt>
                <c:pt idx="1">
                  <c:v>2396</c:v>
                </c:pt>
                <c:pt idx="2">
                  <c:v>3573</c:v>
                </c:pt>
                <c:pt idx="3">
                  <c:v>791</c:v>
                </c:pt>
                <c:pt idx="4">
                  <c:v>853</c:v>
                </c:pt>
              </c:numCache>
            </c:numRef>
          </c:val>
          <c:extLst>
            <c:ext xmlns:c16="http://schemas.microsoft.com/office/drawing/2014/chart" uri="{C3380CC4-5D6E-409C-BE32-E72D297353CC}">
              <c16:uniqueId val="{00000000-49DD-42A2-BD37-0098E76D56E4}"/>
            </c:ext>
          </c:extLst>
        </c:ser>
        <c:ser>
          <c:idx val="1"/>
          <c:order val="1"/>
          <c:tx>
            <c:strRef>
              <c:f>Sheet1!$C$1</c:f>
              <c:strCache>
                <c:ptCount val="1"/>
                <c:pt idx="0">
                  <c:v>FY25</c:v>
                </c:pt>
              </c:strCache>
            </c:strRef>
          </c:tx>
          <c:spPr>
            <a:solidFill>
              <a:srgbClr val="5B84B1"/>
            </a:solidFill>
            <a:effectLst/>
          </c:spPr>
          <c:invertIfNegative val="0"/>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6039</c:v>
                </c:pt>
                <c:pt idx="1">
                  <c:v>1124</c:v>
                </c:pt>
                <c:pt idx="2">
                  <c:v>4303</c:v>
                </c:pt>
                <c:pt idx="3">
                  <c:v>861</c:v>
                </c:pt>
                <c:pt idx="4">
                  <c:v>699</c:v>
                </c:pt>
              </c:numCache>
            </c:numRef>
          </c:val>
          <c:extLst>
            <c:ext xmlns:c16="http://schemas.microsoft.com/office/drawing/2014/chart" uri="{C3380CC4-5D6E-409C-BE32-E72D297353CC}">
              <c16:uniqueId val="{00000001-49DD-42A2-BD37-0098E76D56E4}"/>
            </c:ext>
          </c:extLst>
        </c:ser>
        <c:ser>
          <c:idx val="2"/>
          <c:order val="2"/>
          <c:tx>
            <c:strRef>
              <c:f>Sheet1!$D$1</c:f>
              <c:strCache>
                <c:ptCount val="1"/>
                <c:pt idx="0">
                  <c:v>FY26</c:v>
                </c:pt>
              </c:strCache>
            </c:strRef>
          </c:tx>
          <c:spPr>
            <a:solidFill>
              <a:srgbClr val="1F3A5F"/>
            </a:solidFill>
            <a:effectLst/>
          </c:spPr>
          <c:invertIfNegative val="0"/>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8166</c:v>
                </c:pt>
                <c:pt idx="1">
                  <c:v>1749</c:v>
                </c:pt>
                <c:pt idx="2">
                  <c:v>4728</c:v>
                </c:pt>
                <c:pt idx="3">
                  <c:v>992</c:v>
                </c:pt>
                <c:pt idx="4">
                  <c:v>1158</c:v>
                </c:pt>
              </c:numCache>
            </c:numRef>
          </c:val>
          <c:extLst>
            <c:ext xmlns:c16="http://schemas.microsoft.com/office/drawing/2014/chart" uri="{C3380CC4-5D6E-409C-BE32-E72D297353CC}">
              <c16:uniqueId val="{00000002-49DD-42A2-BD37-0098E76D56E4}"/>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EBITDA margin (%)</a:t>
            </a:r>
          </a:p>
        </c:rich>
      </c:tx>
      <c:overlay val="0"/>
    </c:title>
    <c:autoTitleDeleted val="0"/>
    <c:plotArea>
      <c:layout/>
      <c:barChart>
        <c:barDir val="col"/>
        <c:grouping val="clustered"/>
        <c:varyColors val="0"/>
        <c:ser>
          <c:idx val="0"/>
          <c:order val="0"/>
          <c:tx>
            <c:strRef>
              <c:f>Sheet1!$B$1</c:f>
              <c:strCache>
                <c:ptCount val="1"/>
                <c:pt idx="0">
                  <c:v>FY24</c:v>
                </c:pt>
              </c:strCache>
            </c:strRef>
          </c:tx>
          <c:spPr>
            <a:solidFill>
              <a:srgbClr val="9FB6CF"/>
            </a:solidFill>
            <a:effectLst/>
          </c:spPr>
          <c:invertIfNegative val="0"/>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18.3</c:v>
                </c:pt>
                <c:pt idx="1">
                  <c:v>22.1</c:v>
                </c:pt>
                <c:pt idx="2">
                  <c:v>18.899999999999999</c:v>
                </c:pt>
                <c:pt idx="3">
                  <c:v>17.399999999999999</c:v>
                </c:pt>
                <c:pt idx="4">
                  <c:v>18</c:v>
                </c:pt>
              </c:numCache>
            </c:numRef>
          </c:val>
          <c:extLst>
            <c:ext xmlns:c16="http://schemas.microsoft.com/office/drawing/2014/chart" uri="{C3380CC4-5D6E-409C-BE32-E72D297353CC}">
              <c16:uniqueId val="{00000000-B7FC-44AA-BA69-B1CB54258D76}"/>
            </c:ext>
          </c:extLst>
        </c:ser>
        <c:ser>
          <c:idx val="1"/>
          <c:order val="1"/>
          <c:tx>
            <c:strRef>
              <c:f>Sheet1!$C$1</c:f>
              <c:strCache>
                <c:ptCount val="1"/>
                <c:pt idx="0">
                  <c:v>FY25</c:v>
                </c:pt>
              </c:strCache>
            </c:strRef>
          </c:tx>
          <c:spPr>
            <a:solidFill>
              <a:srgbClr val="5B84B1"/>
            </a:solidFill>
            <a:effectLst/>
          </c:spPr>
          <c:invertIfNegative val="0"/>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16.5</c:v>
                </c:pt>
                <c:pt idx="1">
                  <c:v>20.399999999999999</c:v>
                </c:pt>
                <c:pt idx="2">
                  <c:v>16.3</c:v>
                </c:pt>
                <c:pt idx="3">
                  <c:v>17.100000000000001</c:v>
                </c:pt>
                <c:pt idx="4">
                  <c:v>17.2</c:v>
                </c:pt>
              </c:numCache>
            </c:numRef>
          </c:val>
          <c:extLst>
            <c:ext xmlns:c16="http://schemas.microsoft.com/office/drawing/2014/chart" uri="{C3380CC4-5D6E-409C-BE32-E72D297353CC}">
              <c16:uniqueId val="{00000001-B7FC-44AA-BA69-B1CB54258D76}"/>
            </c:ext>
          </c:extLst>
        </c:ser>
        <c:ser>
          <c:idx val="2"/>
          <c:order val="2"/>
          <c:tx>
            <c:strRef>
              <c:f>Sheet1!$D$1</c:f>
              <c:strCache>
                <c:ptCount val="1"/>
                <c:pt idx="0">
                  <c:v>FY26</c:v>
                </c:pt>
              </c:strCache>
            </c:strRef>
          </c:tx>
          <c:spPr>
            <a:solidFill>
              <a:srgbClr val="1F3A5F"/>
            </a:solidFill>
            <a:effectLst/>
          </c:spPr>
          <c:invertIfNegative val="0"/>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19.2</c:v>
                </c:pt>
                <c:pt idx="1">
                  <c:v>22.1</c:v>
                </c:pt>
                <c:pt idx="2">
                  <c:v>15.7</c:v>
                </c:pt>
                <c:pt idx="3">
                  <c:v>17.3</c:v>
                </c:pt>
                <c:pt idx="4">
                  <c:v>20.8</c:v>
                </c:pt>
              </c:numCache>
            </c:numRef>
          </c:val>
          <c:extLst>
            <c:ext xmlns:c16="http://schemas.microsoft.com/office/drawing/2014/chart" uri="{C3380CC4-5D6E-409C-BE32-E72D297353CC}">
              <c16:uniqueId val="{00000002-B7FC-44AA-BA69-B1CB54258D76}"/>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Net margin (%)</a:t>
            </a:r>
          </a:p>
        </c:rich>
      </c:tx>
      <c:overlay val="0"/>
    </c:title>
    <c:autoTitleDeleted val="0"/>
    <c:plotArea>
      <c:layout/>
      <c:barChart>
        <c:barDir val="col"/>
        <c:grouping val="clustered"/>
        <c:varyColors val="0"/>
        <c:ser>
          <c:idx val="0"/>
          <c:order val="0"/>
          <c:tx>
            <c:strRef>
              <c:f>Sheet1!$B$1</c:f>
              <c:strCache>
                <c:ptCount val="1"/>
                <c:pt idx="0">
                  <c:v>FY24</c:v>
                </c:pt>
              </c:strCache>
            </c:strRef>
          </c:tx>
          <c:spPr>
            <a:solidFill>
              <a:srgbClr val="C9E6E1"/>
            </a:solidFill>
            <a:effectLst/>
          </c:spPr>
          <c:invertIfNegative val="0"/>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9.9</c:v>
                </c:pt>
                <c:pt idx="1">
                  <c:v>11.7</c:v>
                </c:pt>
                <c:pt idx="2">
                  <c:v>10.8</c:v>
                </c:pt>
                <c:pt idx="3">
                  <c:v>6.8</c:v>
                </c:pt>
                <c:pt idx="4">
                  <c:v>5.8</c:v>
                </c:pt>
              </c:numCache>
            </c:numRef>
          </c:val>
          <c:extLst>
            <c:ext xmlns:c16="http://schemas.microsoft.com/office/drawing/2014/chart" uri="{C3380CC4-5D6E-409C-BE32-E72D297353CC}">
              <c16:uniqueId val="{00000000-6C0F-4C69-8D2B-524FC445EA22}"/>
            </c:ext>
          </c:extLst>
        </c:ser>
        <c:ser>
          <c:idx val="1"/>
          <c:order val="1"/>
          <c:tx>
            <c:strRef>
              <c:f>Sheet1!$C$1</c:f>
              <c:strCache>
                <c:ptCount val="1"/>
                <c:pt idx="0">
                  <c:v>FY25</c:v>
                </c:pt>
              </c:strCache>
            </c:strRef>
          </c:tx>
          <c:spPr>
            <a:solidFill>
              <a:srgbClr val="7CC4BA"/>
            </a:solidFill>
            <a:effectLst/>
          </c:spPr>
          <c:invertIfNegative val="0"/>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8</c:v>
                </c:pt>
                <c:pt idx="1">
                  <c:v>5.8</c:v>
                </c:pt>
                <c:pt idx="2">
                  <c:v>12.2</c:v>
                </c:pt>
                <c:pt idx="3">
                  <c:v>7.2</c:v>
                </c:pt>
                <c:pt idx="4">
                  <c:v>5</c:v>
                </c:pt>
              </c:numCache>
            </c:numRef>
          </c:val>
          <c:extLst>
            <c:ext xmlns:c16="http://schemas.microsoft.com/office/drawing/2014/chart" uri="{C3380CC4-5D6E-409C-BE32-E72D297353CC}">
              <c16:uniqueId val="{00000001-6C0F-4C69-8D2B-524FC445EA22}"/>
            </c:ext>
          </c:extLst>
        </c:ser>
        <c:ser>
          <c:idx val="2"/>
          <c:order val="2"/>
          <c:tx>
            <c:strRef>
              <c:f>Sheet1!$D$1</c:f>
              <c:strCache>
                <c:ptCount val="1"/>
                <c:pt idx="0">
                  <c:v>FY26</c:v>
                </c:pt>
              </c:strCache>
            </c:strRef>
          </c:tx>
          <c:spPr>
            <a:solidFill>
              <a:srgbClr val="2A9D8F"/>
            </a:solidFill>
            <a:effectLst/>
          </c:spPr>
          <c:invertIfNegative val="0"/>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9.1999999999999993</c:v>
                </c:pt>
                <c:pt idx="1">
                  <c:v>8.3000000000000007</c:v>
                </c:pt>
                <c:pt idx="2">
                  <c:v>11.6</c:v>
                </c:pt>
                <c:pt idx="3">
                  <c:v>7.2</c:v>
                </c:pt>
                <c:pt idx="4">
                  <c:v>7.8</c:v>
                </c:pt>
              </c:numCache>
            </c:numRef>
          </c:val>
          <c:extLst>
            <c:ext xmlns:c16="http://schemas.microsoft.com/office/drawing/2014/chart" uri="{C3380CC4-5D6E-409C-BE32-E72D297353CC}">
              <c16:uniqueId val="{00000002-6C0F-4C69-8D2B-524FC445EA22}"/>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ROE, FY26 (%)</a:t>
            </a:r>
          </a:p>
        </c:rich>
      </c:tx>
      <c:overlay val="0"/>
    </c:title>
    <c:autoTitleDeleted val="0"/>
    <c:plotArea>
      <c:layout/>
      <c:barChart>
        <c:barDir val="col"/>
        <c:grouping val="clustered"/>
        <c:varyColors val="0"/>
        <c:ser>
          <c:idx val="0"/>
          <c:order val="0"/>
          <c:tx>
            <c:strRef>
              <c:f>Sheet1!$B$1</c:f>
              <c:strCache>
                <c:ptCount val="1"/>
                <c:pt idx="0">
                  <c:v>ROE</c:v>
                </c:pt>
              </c:strCache>
            </c:strRef>
          </c:tx>
          <c:spPr>
            <a:solidFill>
              <a:srgbClr val="1F3A5F"/>
            </a:solidFill>
            <a:effectLst/>
          </c:spPr>
          <c:invertIfNegative val="0"/>
          <c:dLbls>
            <c:numFmt formatCode="0.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11.6</c:v>
                </c:pt>
                <c:pt idx="1">
                  <c:v>7.8</c:v>
                </c:pt>
                <c:pt idx="2">
                  <c:v>9</c:v>
                </c:pt>
                <c:pt idx="3">
                  <c:v>14.3</c:v>
                </c:pt>
                <c:pt idx="4">
                  <c:v>6.4</c:v>
                </c:pt>
              </c:numCache>
            </c:numRef>
          </c:val>
          <c:extLst>
            <c:ext xmlns:c16="http://schemas.microsoft.com/office/drawing/2014/chart" uri="{C3380CC4-5D6E-409C-BE32-E72D297353CC}">
              <c16:uniqueId val="{00000000-D1EE-4A94-AD4C-13B82CD418B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Debt / Equity, FY26 (x)</a:t>
            </a:r>
          </a:p>
        </c:rich>
      </c:tx>
      <c:overlay val="0"/>
    </c:title>
    <c:autoTitleDeleted val="0"/>
    <c:plotArea>
      <c:layout/>
      <c:barChart>
        <c:barDir val="col"/>
        <c:grouping val="clustered"/>
        <c:varyColors val="0"/>
        <c:ser>
          <c:idx val="0"/>
          <c:order val="0"/>
          <c:tx>
            <c:strRef>
              <c:f>Sheet1!$B$1</c:f>
              <c:strCache>
                <c:ptCount val="1"/>
                <c:pt idx="0">
                  <c:v>D/E</c:v>
                </c:pt>
              </c:strCache>
            </c:strRef>
          </c:tx>
          <c:spPr>
            <a:solidFill>
              <a:srgbClr val="C8553D"/>
            </a:solidFill>
            <a:effectLst/>
          </c:spPr>
          <c:invertIfNegative val="0"/>
          <c:dLbls>
            <c:numFmt formatCode="0.0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0.34</c:v>
                </c:pt>
                <c:pt idx="1">
                  <c:v>0.08</c:v>
                </c:pt>
                <c:pt idx="2">
                  <c:v>0.02</c:v>
                </c:pt>
                <c:pt idx="3">
                  <c:v>0.87</c:v>
                </c:pt>
                <c:pt idx="4">
                  <c:v>0.41</c:v>
                </c:pt>
              </c:numCache>
            </c:numRef>
          </c:val>
          <c:extLst>
            <c:ext xmlns:c16="http://schemas.microsoft.com/office/drawing/2014/chart" uri="{C3380CC4-5D6E-409C-BE32-E72D297353CC}">
              <c16:uniqueId val="{00000000-942A-4A89-BCF4-4D8D269CB9A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P/E (x)</a:t>
            </a:r>
          </a:p>
        </c:rich>
      </c:tx>
      <c:overlay val="0"/>
    </c:title>
    <c:autoTitleDeleted val="0"/>
    <c:plotArea>
      <c:layout/>
      <c:barChart>
        <c:barDir val="col"/>
        <c:grouping val="clustered"/>
        <c:varyColors val="0"/>
        <c:ser>
          <c:idx val="0"/>
          <c:order val="0"/>
          <c:tx>
            <c:strRef>
              <c:f>Sheet1!$B$1</c:f>
              <c:strCache>
                <c:ptCount val="1"/>
                <c:pt idx="0">
                  <c:v>P/E</c:v>
                </c:pt>
              </c:strCache>
            </c:strRef>
          </c:tx>
          <c:spPr>
            <a:solidFill>
              <a:srgbClr val="1F3A5F"/>
            </a:solidFill>
            <a:effectLst/>
          </c:spPr>
          <c:invertIfNegative val="0"/>
          <c:dLbls>
            <c:numFmt formatCode="0.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39</c:v>
                </c:pt>
                <c:pt idx="1">
                  <c:v>45.2</c:v>
                </c:pt>
                <c:pt idx="2">
                  <c:v>20.7</c:v>
                </c:pt>
                <c:pt idx="3">
                  <c:v>39.200000000000003</c:v>
                </c:pt>
                <c:pt idx="4">
                  <c:v>27.4</c:v>
                </c:pt>
              </c:numCache>
            </c:numRef>
          </c:val>
          <c:extLst>
            <c:ext xmlns:c16="http://schemas.microsoft.com/office/drawing/2014/chart" uri="{C3380CC4-5D6E-409C-BE32-E72D297353CC}">
              <c16:uniqueId val="{00000000-8F6D-4575-A9A2-6B1A43247CC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P/B (x)</a:t>
            </a:r>
          </a:p>
        </c:rich>
      </c:tx>
      <c:overlay val="0"/>
    </c:title>
    <c:autoTitleDeleted val="0"/>
    <c:plotArea>
      <c:layout/>
      <c:barChart>
        <c:barDir val="col"/>
        <c:grouping val="clustered"/>
        <c:varyColors val="0"/>
        <c:ser>
          <c:idx val="0"/>
          <c:order val="0"/>
          <c:tx>
            <c:strRef>
              <c:f>Sheet1!$B$1</c:f>
              <c:strCache>
                <c:ptCount val="1"/>
                <c:pt idx="0">
                  <c:v>P/B</c:v>
                </c:pt>
              </c:strCache>
            </c:strRef>
          </c:tx>
          <c:spPr>
            <a:solidFill>
              <a:srgbClr val="2A9D8F"/>
            </a:solidFill>
            <a:effectLst/>
          </c:spPr>
          <c:invertIfNegative val="0"/>
          <c:dLbls>
            <c:numFmt formatCode="0.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4.5</c:v>
                </c:pt>
                <c:pt idx="1">
                  <c:v>3.5</c:v>
                </c:pt>
                <c:pt idx="2">
                  <c:v>1.9</c:v>
                </c:pt>
                <c:pt idx="3">
                  <c:v>5.6</c:v>
                </c:pt>
                <c:pt idx="4">
                  <c:v>1.8</c:v>
                </c:pt>
              </c:numCache>
            </c:numRef>
          </c:val>
          <c:extLst>
            <c:ext xmlns:c16="http://schemas.microsoft.com/office/drawing/2014/chart" uri="{C3380CC4-5D6E-409C-BE32-E72D297353CC}">
              <c16:uniqueId val="{00000000-5CF2-4739-8024-18EFB67276F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US" sz="1100" b="0" i="0" u="none" strike="noStrike">
                <a:solidFill>
                  <a:srgbClr val="222B36"/>
                </a:solidFill>
                <a:latin typeface="Arial"/>
              </a:rPr>
              <a:t>Weighted score (out of 5)</a:t>
            </a:r>
          </a:p>
        </c:rich>
      </c:tx>
      <c:overlay val="0"/>
    </c:title>
    <c:autoTitleDeleted val="0"/>
    <c:plotArea>
      <c:layout/>
      <c:barChart>
        <c:barDir val="col"/>
        <c:grouping val="clustered"/>
        <c:varyColors val="0"/>
        <c:ser>
          <c:idx val="0"/>
          <c:order val="0"/>
          <c:tx>
            <c:strRef>
              <c:f>Sheet1!$B$1</c:f>
              <c:strCache>
                <c:ptCount val="1"/>
                <c:pt idx="0">
                  <c:v>Weighted score</c:v>
                </c:pt>
              </c:strCache>
            </c:strRef>
          </c:tx>
          <c:spPr>
            <a:solidFill>
              <a:srgbClr val="1F3A5F"/>
            </a:solidFill>
            <a:effectLst/>
          </c:spPr>
          <c:invertIfNegative val="0"/>
          <c:dLbls>
            <c:numFmt formatCode="0.0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3.45</c:v>
                </c:pt>
                <c:pt idx="1">
                  <c:v>2.8</c:v>
                </c:pt>
                <c:pt idx="2">
                  <c:v>3.6</c:v>
                </c:pt>
                <c:pt idx="3">
                  <c:v>2.4</c:v>
                </c:pt>
                <c:pt idx="4">
                  <c:v>2.75</c:v>
                </c:pt>
              </c:numCache>
            </c:numRef>
          </c:val>
          <c:extLst>
            <c:ext xmlns:c16="http://schemas.microsoft.com/office/drawing/2014/chart" uri="{C3380CC4-5D6E-409C-BE32-E72D297353CC}">
              <c16:uniqueId val="{00000000-0191-424D-ACD2-C46D0923F4A9}"/>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US" sz="1100" b="0" i="0" u="none" strike="noStrike">
                <a:solidFill>
                  <a:srgbClr val="222B36"/>
                </a:solidFill>
                <a:latin typeface="Arial"/>
              </a:rPr>
              <a:t>P/E (x): current, peer median and adjusted</a:t>
            </a:r>
          </a:p>
        </c:rich>
      </c:tx>
      <c:overlay val="0"/>
    </c:title>
    <c:autoTitleDeleted val="0"/>
    <c:plotArea>
      <c:layout/>
      <c:barChart>
        <c:barDir val="col"/>
        <c:grouping val="clustered"/>
        <c:varyColors val="0"/>
        <c:ser>
          <c:idx val="0"/>
          <c:order val="0"/>
          <c:tx>
            <c:strRef>
              <c:f>Sheet1!$B$1</c:f>
              <c:strCache>
                <c:ptCount val="1"/>
                <c:pt idx="0">
                  <c:v>Current</c:v>
                </c:pt>
              </c:strCache>
            </c:strRef>
          </c:tx>
          <c:spPr>
            <a:solidFill>
              <a:srgbClr val="9AA5B1"/>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39</c:v>
                </c:pt>
                <c:pt idx="1">
                  <c:v>45.2</c:v>
                </c:pt>
                <c:pt idx="2">
                  <c:v>20.7</c:v>
                </c:pt>
                <c:pt idx="3">
                  <c:v>39.200000000000003</c:v>
                </c:pt>
                <c:pt idx="4">
                  <c:v>27.4</c:v>
                </c:pt>
              </c:numCache>
            </c:numRef>
          </c:val>
          <c:extLst>
            <c:ext xmlns:c16="http://schemas.microsoft.com/office/drawing/2014/chart" uri="{C3380CC4-5D6E-409C-BE32-E72D297353CC}">
              <c16:uniqueId val="{00000000-DD62-438D-817A-C96929EB45D0}"/>
            </c:ext>
          </c:extLst>
        </c:ser>
        <c:ser>
          <c:idx val="1"/>
          <c:order val="1"/>
          <c:tx>
            <c:strRef>
              <c:f>Sheet1!$C$1</c:f>
              <c:strCache>
                <c:ptCount val="1"/>
                <c:pt idx="0">
                  <c:v>Peer median (other four)</c:v>
                </c:pt>
              </c:strCache>
            </c:strRef>
          </c:tx>
          <c:spPr>
            <a:solidFill>
              <a:srgbClr val="5B84B1"/>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33.299999999999997</c:v>
                </c:pt>
                <c:pt idx="1">
                  <c:v>33.200000000000003</c:v>
                </c:pt>
                <c:pt idx="2">
                  <c:v>39.1</c:v>
                </c:pt>
                <c:pt idx="3">
                  <c:v>33.200000000000003</c:v>
                </c:pt>
                <c:pt idx="4">
                  <c:v>39.1</c:v>
                </c:pt>
              </c:numCache>
            </c:numRef>
          </c:val>
          <c:extLst>
            <c:ext xmlns:c16="http://schemas.microsoft.com/office/drawing/2014/chart" uri="{C3380CC4-5D6E-409C-BE32-E72D297353CC}">
              <c16:uniqueId val="{00000001-DD62-438D-817A-C96929EB45D0}"/>
            </c:ext>
          </c:extLst>
        </c:ser>
        <c:ser>
          <c:idx val="2"/>
          <c:order val="2"/>
          <c:tx>
            <c:strRef>
              <c:f>Sheet1!$D$1</c:f>
              <c:strCache>
                <c:ptCount val="1"/>
                <c:pt idx="0">
                  <c:v>Adjusted base</c:v>
                </c:pt>
              </c:strCache>
            </c:strRef>
          </c:tx>
          <c:spPr>
            <a:solidFill>
              <a:srgbClr val="2A9D8F"/>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39</c:v>
                </c:pt>
                <c:pt idx="1">
                  <c:v>39.200000000000003</c:v>
                </c:pt>
                <c:pt idx="2">
                  <c:v>29.9</c:v>
                </c:pt>
                <c:pt idx="3">
                  <c:v>37.700000000000003</c:v>
                </c:pt>
                <c:pt idx="4">
                  <c:v>33.200000000000003</c:v>
                </c:pt>
              </c:numCache>
            </c:numRef>
          </c:val>
          <c:extLst>
            <c:ext xmlns:c16="http://schemas.microsoft.com/office/drawing/2014/chart" uri="{C3380CC4-5D6E-409C-BE32-E72D297353CC}">
              <c16:uniqueId val="{00000002-DD62-438D-817A-C96929EB45D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Upside vs current price (%)</a:t>
            </a:r>
          </a:p>
        </c:rich>
      </c:tx>
      <c:overlay val="0"/>
    </c:title>
    <c:autoTitleDeleted val="0"/>
    <c:plotArea>
      <c:layout/>
      <c:barChart>
        <c:barDir val="col"/>
        <c:grouping val="clustered"/>
        <c:varyColors val="0"/>
        <c:ser>
          <c:idx val="0"/>
          <c:order val="0"/>
          <c:tx>
            <c:strRef>
              <c:f>Sheet1!$B$1</c:f>
              <c:strCache>
                <c:ptCount val="1"/>
                <c:pt idx="0">
                  <c:v>No convergence</c:v>
                </c:pt>
              </c:strCache>
            </c:strRef>
          </c:tx>
          <c:spPr>
            <a:solidFill>
              <a:srgbClr val="9AA5B1"/>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19</c:v>
                </c:pt>
                <c:pt idx="1">
                  <c:v>16</c:v>
                </c:pt>
                <c:pt idx="2">
                  <c:v>4</c:v>
                </c:pt>
                <c:pt idx="3">
                  <c:v>20</c:v>
                </c:pt>
                <c:pt idx="4">
                  <c:v>10</c:v>
                </c:pt>
              </c:numCache>
            </c:numRef>
          </c:val>
          <c:extLst>
            <c:ext xmlns:c16="http://schemas.microsoft.com/office/drawing/2014/chart" uri="{C3380CC4-5D6E-409C-BE32-E72D297353CC}">
              <c16:uniqueId val="{00000000-6430-4CD6-AD77-C462D455C71F}"/>
            </c:ext>
          </c:extLst>
        </c:ser>
        <c:ser>
          <c:idx val="1"/>
          <c:order val="1"/>
          <c:tx>
            <c:strRef>
              <c:f>Sheet1!$C$1</c:f>
              <c:strCache>
                <c:ptCount val="1"/>
                <c:pt idx="0">
                  <c:v>Rule-based (base case)</c:v>
                </c:pt>
              </c:strCache>
            </c:strRef>
          </c:tx>
          <c:spPr>
            <a:solidFill>
              <a:srgbClr val="2A9D8F"/>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19</c:v>
                </c:pt>
                <c:pt idx="1">
                  <c:v>1</c:v>
                </c:pt>
                <c:pt idx="2">
                  <c:v>50</c:v>
                </c:pt>
                <c:pt idx="3">
                  <c:v>16</c:v>
                </c:pt>
                <c:pt idx="4">
                  <c:v>33</c:v>
                </c:pt>
              </c:numCache>
            </c:numRef>
          </c:val>
          <c:extLst>
            <c:ext xmlns:c16="http://schemas.microsoft.com/office/drawing/2014/chart" uri="{C3380CC4-5D6E-409C-BE32-E72D297353CC}">
              <c16:uniqueId val="{00000001-6430-4CD6-AD77-C462D455C71F}"/>
            </c:ext>
          </c:extLst>
        </c:ser>
        <c:ser>
          <c:idx val="2"/>
          <c:order val="2"/>
          <c:tx>
            <c:strRef>
              <c:f>Sheet1!$D$1</c:f>
              <c:strCache>
                <c:ptCount val="1"/>
                <c:pt idx="0">
                  <c:v>Full convergence</c:v>
                </c:pt>
              </c:strCache>
            </c:strRef>
          </c:tx>
          <c:spPr>
            <a:solidFill>
              <a:srgbClr val="5B84B1"/>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1</c:v>
                </c:pt>
                <c:pt idx="1">
                  <c:v>-15</c:v>
                </c:pt>
                <c:pt idx="2">
                  <c:v>96</c:v>
                </c:pt>
                <c:pt idx="3">
                  <c:v>2</c:v>
                </c:pt>
                <c:pt idx="4">
                  <c:v>57</c:v>
                </c:pt>
              </c:numCache>
            </c:numRef>
          </c:val>
          <c:extLst>
            <c:ext xmlns:c16="http://schemas.microsoft.com/office/drawing/2014/chart" uri="{C3380CC4-5D6E-409C-BE32-E72D297353CC}">
              <c16:uniqueId val="{00000002-6430-4CD6-AD77-C462D455C71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Revenue (Rs Cr)</a:t>
            </a:r>
          </a:p>
        </c:rich>
      </c:tx>
      <c:overlay val="0"/>
    </c:title>
    <c:autoTitleDeleted val="0"/>
    <c:plotArea>
      <c:layout/>
      <c:barChart>
        <c:barDir val="col"/>
        <c:grouping val="clustered"/>
        <c:varyColors val="0"/>
        <c:ser>
          <c:idx val="0"/>
          <c:order val="0"/>
          <c:tx>
            <c:strRef>
              <c:f>Sheet1!$B$1</c:f>
              <c:strCache>
                <c:ptCount val="1"/>
                <c:pt idx="0">
                  <c:v>FY26A</c:v>
                </c:pt>
              </c:strCache>
            </c:strRef>
          </c:tx>
          <c:spPr>
            <a:solidFill>
              <a:srgbClr val="9FB6CF"/>
            </a:solidFill>
            <a:effectLst/>
          </c:spPr>
          <c:invertIfNegative val="0"/>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88512</c:v>
                </c:pt>
                <c:pt idx="1">
                  <c:v>20943</c:v>
                </c:pt>
                <c:pt idx="2">
                  <c:v>40656</c:v>
                </c:pt>
                <c:pt idx="3">
                  <c:v>13722</c:v>
                </c:pt>
                <c:pt idx="4">
                  <c:v>14804</c:v>
                </c:pt>
              </c:numCache>
            </c:numRef>
          </c:val>
          <c:extLst>
            <c:ext xmlns:c16="http://schemas.microsoft.com/office/drawing/2014/chart" uri="{C3380CC4-5D6E-409C-BE32-E72D297353CC}">
              <c16:uniqueId val="{00000000-615D-4A11-ADCA-D8A902395C0E}"/>
            </c:ext>
          </c:extLst>
        </c:ser>
        <c:ser>
          <c:idx val="1"/>
          <c:order val="1"/>
          <c:tx>
            <c:strRef>
              <c:f>Sheet1!$C$1</c:f>
              <c:strCache>
                <c:ptCount val="1"/>
                <c:pt idx="0">
                  <c:v>FY27E</c:v>
                </c:pt>
              </c:strCache>
            </c:strRef>
          </c:tx>
          <c:spPr>
            <a:solidFill>
              <a:srgbClr val="5B84B1"/>
            </a:solidFill>
            <a:effectLst/>
          </c:spPr>
          <c:invertIfNegative val="0"/>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99133</c:v>
                </c:pt>
                <c:pt idx="1">
                  <c:v>23038</c:v>
                </c:pt>
                <c:pt idx="2">
                  <c:v>45534</c:v>
                </c:pt>
                <c:pt idx="3">
                  <c:v>15369</c:v>
                </c:pt>
                <c:pt idx="4">
                  <c:v>16136</c:v>
                </c:pt>
              </c:numCache>
            </c:numRef>
          </c:val>
          <c:extLst>
            <c:ext xmlns:c16="http://schemas.microsoft.com/office/drawing/2014/chart" uri="{C3380CC4-5D6E-409C-BE32-E72D297353CC}">
              <c16:uniqueId val="{00000001-615D-4A11-ADCA-D8A902395C0E}"/>
            </c:ext>
          </c:extLst>
        </c:ser>
        <c:ser>
          <c:idx val="2"/>
          <c:order val="2"/>
          <c:tx>
            <c:strRef>
              <c:f>Sheet1!$D$1</c:f>
              <c:strCache>
                <c:ptCount val="1"/>
                <c:pt idx="0">
                  <c:v>FY28E</c:v>
                </c:pt>
              </c:strCache>
            </c:strRef>
          </c:tx>
          <c:spPr>
            <a:solidFill>
              <a:srgbClr val="1F3A5F"/>
            </a:solidFill>
            <a:effectLst/>
          </c:spPr>
          <c:invertIfNegative val="0"/>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109046</c:v>
                </c:pt>
                <c:pt idx="1">
                  <c:v>25342</c:v>
                </c:pt>
                <c:pt idx="2">
                  <c:v>50088</c:v>
                </c:pt>
                <c:pt idx="3">
                  <c:v>17060</c:v>
                </c:pt>
                <c:pt idx="4">
                  <c:v>17427</c:v>
                </c:pt>
              </c:numCache>
            </c:numRef>
          </c:val>
          <c:extLst>
            <c:ext xmlns:c16="http://schemas.microsoft.com/office/drawing/2014/chart" uri="{C3380CC4-5D6E-409C-BE32-E72D297353CC}">
              <c16:uniqueId val="{00000002-615D-4A11-ADCA-D8A902395C0E}"/>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IN" sz="1100" b="0" i="0" u="none" strike="noStrike">
                <a:solidFill>
                  <a:srgbClr val="222B36"/>
                </a:solidFill>
                <a:latin typeface="Arial"/>
              </a:rPr>
              <a:t>EPS (Rs)</a:t>
            </a:r>
          </a:p>
        </c:rich>
      </c:tx>
      <c:overlay val="0"/>
    </c:title>
    <c:autoTitleDeleted val="0"/>
    <c:plotArea>
      <c:layout/>
      <c:barChart>
        <c:barDir val="col"/>
        <c:grouping val="clustered"/>
        <c:varyColors val="0"/>
        <c:ser>
          <c:idx val="0"/>
          <c:order val="0"/>
          <c:tx>
            <c:strRef>
              <c:f>Sheet1!$B$1</c:f>
              <c:strCache>
                <c:ptCount val="1"/>
                <c:pt idx="0">
                  <c:v>FY26A</c:v>
                </c:pt>
              </c:strCache>
            </c:strRef>
          </c:tx>
          <c:spPr>
            <a:solidFill>
              <a:srgbClr val="9FB6CF"/>
            </a:solidFill>
            <a:effectLst/>
          </c:spPr>
          <c:invertIfNegative val="0"/>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277.5</c:v>
                </c:pt>
                <c:pt idx="1">
                  <c:v>484.6</c:v>
                </c:pt>
                <c:pt idx="2">
                  <c:v>18.5</c:v>
                </c:pt>
                <c:pt idx="3">
                  <c:v>128.4</c:v>
                </c:pt>
                <c:pt idx="4">
                  <c:v>61.7</c:v>
                </c:pt>
              </c:numCache>
            </c:numRef>
          </c:val>
          <c:extLst>
            <c:ext xmlns:c16="http://schemas.microsoft.com/office/drawing/2014/chart" uri="{C3380CC4-5D6E-409C-BE32-E72D297353CC}">
              <c16:uniqueId val="{00000000-2FFD-4CCA-B8AA-30595D83E7C5}"/>
            </c:ext>
          </c:extLst>
        </c:ser>
        <c:ser>
          <c:idx val="1"/>
          <c:order val="1"/>
          <c:tx>
            <c:strRef>
              <c:f>Sheet1!$C$1</c:f>
              <c:strCache>
                <c:ptCount val="1"/>
                <c:pt idx="0">
                  <c:v>FY27E</c:v>
                </c:pt>
              </c:strCache>
            </c:strRef>
          </c:tx>
          <c:spPr>
            <a:solidFill>
              <a:srgbClr val="5B84B1"/>
            </a:solidFill>
            <a:effectLst/>
          </c:spPr>
          <c:invertIfNegative val="0"/>
          <c:cat>
            <c:strRef>
              <c:f>Sheet1!$A$2:$A$6</c:f>
              <c:strCache>
                <c:ptCount val="5"/>
                <c:pt idx="0">
                  <c:v>UltraTech</c:v>
                </c:pt>
                <c:pt idx="1">
                  <c:v>Shree</c:v>
                </c:pt>
                <c:pt idx="2">
                  <c:v>Ambuja</c:v>
                </c:pt>
                <c:pt idx="3">
                  <c:v>JK Cement</c:v>
                </c:pt>
                <c:pt idx="4">
                  <c:v>Dalmia</c:v>
                </c:pt>
              </c:strCache>
            </c:strRef>
          </c:cat>
          <c:val>
            <c:numRef>
              <c:f>Sheet1!$C$2:$C$6</c:f>
              <c:numCache>
                <c:formatCode>General</c:formatCode>
                <c:ptCount val="5"/>
                <c:pt idx="0">
                  <c:v>286.3</c:v>
                </c:pt>
                <c:pt idx="1">
                  <c:v>485.3</c:v>
                </c:pt>
                <c:pt idx="2">
                  <c:v>17</c:v>
                </c:pt>
                <c:pt idx="3">
                  <c:v>131.30000000000001</c:v>
                </c:pt>
                <c:pt idx="4">
                  <c:v>60.2</c:v>
                </c:pt>
              </c:numCache>
            </c:numRef>
          </c:val>
          <c:extLst>
            <c:ext xmlns:c16="http://schemas.microsoft.com/office/drawing/2014/chart" uri="{C3380CC4-5D6E-409C-BE32-E72D297353CC}">
              <c16:uniqueId val="{00000001-2FFD-4CCA-B8AA-30595D83E7C5}"/>
            </c:ext>
          </c:extLst>
        </c:ser>
        <c:ser>
          <c:idx val="2"/>
          <c:order val="2"/>
          <c:tx>
            <c:strRef>
              <c:f>Sheet1!$D$1</c:f>
              <c:strCache>
                <c:ptCount val="1"/>
                <c:pt idx="0">
                  <c:v>FY28E</c:v>
                </c:pt>
              </c:strCache>
            </c:strRef>
          </c:tx>
          <c:spPr>
            <a:solidFill>
              <a:srgbClr val="1F3A5F"/>
            </a:solidFill>
            <a:effectLst/>
          </c:spPr>
          <c:invertIfNegative val="0"/>
          <c:cat>
            <c:strRef>
              <c:f>Sheet1!$A$2:$A$6</c:f>
              <c:strCache>
                <c:ptCount val="5"/>
                <c:pt idx="0">
                  <c:v>UltraTech</c:v>
                </c:pt>
                <c:pt idx="1">
                  <c:v>Shree</c:v>
                </c:pt>
                <c:pt idx="2">
                  <c:v>Ambuja</c:v>
                </c:pt>
                <c:pt idx="3">
                  <c:v>JK Cement</c:v>
                </c:pt>
                <c:pt idx="4">
                  <c:v>Dalmia</c:v>
                </c:pt>
              </c:strCache>
            </c:strRef>
          </c:cat>
          <c:val>
            <c:numRef>
              <c:f>Sheet1!$D$2:$D$6</c:f>
              <c:numCache>
                <c:formatCode>General</c:formatCode>
                <c:ptCount val="5"/>
                <c:pt idx="0">
                  <c:v>329.8</c:v>
                </c:pt>
                <c:pt idx="1">
                  <c:v>561.9</c:v>
                </c:pt>
                <c:pt idx="2">
                  <c:v>19.2</c:v>
                </c:pt>
                <c:pt idx="3">
                  <c:v>154.5</c:v>
                </c:pt>
                <c:pt idx="4">
                  <c:v>67.8</c:v>
                </c:pt>
              </c:numCache>
            </c:numRef>
          </c:val>
          <c:extLst>
            <c:ext xmlns:c16="http://schemas.microsoft.com/office/drawing/2014/chart" uri="{C3380CC4-5D6E-409C-BE32-E72D297353CC}">
              <c16:uniqueId val="{00000002-2FFD-4CCA-B8AA-30595D83E7C5}"/>
            </c:ext>
          </c:extLst>
        </c:ser>
        <c:dLbls>
          <c:showLegendKey val="0"/>
          <c:showVal val="0"/>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22B36"/>
                </a:solidFill>
                <a:latin typeface="Arial"/>
              </a:defRPr>
            </a:pPr>
            <a:r>
              <a:rPr lang="en-US" sz="1100" b="0" i="0" u="none" strike="noStrike">
                <a:solidFill>
                  <a:srgbClr val="222B36"/>
                </a:solidFill>
                <a:latin typeface="Arial"/>
              </a:rPr>
              <a:t>Composite risk score (1-5, lower is better)</a:t>
            </a:r>
          </a:p>
        </c:rich>
      </c:tx>
      <c:overlay val="0"/>
    </c:title>
    <c:autoTitleDeleted val="0"/>
    <c:plotArea>
      <c:layout/>
      <c:barChart>
        <c:barDir val="col"/>
        <c:grouping val="clustered"/>
        <c:varyColors val="0"/>
        <c:ser>
          <c:idx val="0"/>
          <c:order val="0"/>
          <c:tx>
            <c:strRef>
              <c:f>Sheet1!$B$1</c:f>
              <c:strCache>
                <c:ptCount val="1"/>
                <c:pt idx="0">
                  <c:v>Composite risk</c:v>
                </c:pt>
              </c:strCache>
            </c:strRef>
          </c:tx>
          <c:spPr>
            <a:solidFill>
              <a:srgbClr val="C8553D"/>
            </a:solidFill>
            <a:effectLst/>
          </c:spPr>
          <c:invertIfNegative val="0"/>
          <c:dLbls>
            <c:numFmt formatCode="0.0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UltraTech</c:v>
                </c:pt>
                <c:pt idx="1">
                  <c:v>Shree</c:v>
                </c:pt>
                <c:pt idx="2">
                  <c:v>Ambuja</c:v>
                </c:pt>
                <c:pt idx="3">
                  <c:v>JK Cement</c:v>
                </c:pt>
                <c:pt idx="4">
                  <c:v>Dalmia</c:v>
                </c:pt>
              </c:strCache>
            </c:strRef>
          </c:cat>
          <c:val>
            <c:numRef>
              <c:f>Sheet1!$B$2:$B$6</c:f>
              <c:numCache>
                <c:formatCode>General</c:formatCode>
                <c:ptCount val="5"/>
                <c:pt idx="0">
                  <c:v>2.5</c:v>
                </c:pt>
                <c:pt idx="1">
                  <c:v>2.25</c:v>
                </c:pt>
                <c:pt idx="2">
                  <c:v>2.25</c:v>
                </c:pt>
                <c:pt idx="3">
                  <c:v>3.25</c:v>
                </c:pt>
                <c:pt idx="4">
                  <c:v>3.25</c:v>
                </c:pt>
              </c:numCache>
            </c:numRef>
          </c:val>
          <c:extLst>
            <c:ext xmlns:c16="http://schemas.microsoft.com/office/drawing/2014/chart" uri="{C3380CC4-5D6E-409C-BE32-E72D297353CC}">
              <c16:uniqueId val="{00000000-8481-41CC-8736-F35531E303DA}"/>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6350" cap="flat">
              <a:solidFill>
                <a:srgbClr val="E3E7E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2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6.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1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12.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7.xml"/></Relationships>
</file>

<file path=ppt/slides/_rels/slide1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a:effectLst/>
      </p:bgPr>
    </p:bg>
    <p:spTree>
      <p:nvGrpSpPr>
        <p:cNvPr id="1" name=""/>
        <p:cNvGrpSpPr/>
        <p:nvPr/>
      </p:nvGrpSpPr>
      <p:grpSpPr>
        <a:xfrm>
          <a:off x="0" y="0"/>
          <a:ext cx="0" cy="0"/>
          <a:chOff x="0" y="0"/>
          <a:chExt cx="0" cy="0"/>
        </a:xfrm>
      </p:grpSpPr>
      <p:sp>
        <p:nvSpPr>
          <p:cNvPr id="2" name="Text 0"/>
          <p:cNvSpPr txBox="1"/>
          <p:nvPr/>
        </p:nvSpPr>
        <p:spPr>
          <a:xfrm>
            <a:off x="548640" y="1188720"/>
            <a:ext cx="8046720" cy="365760"/>
          </a:xfrm>
          <a:prstGeom prst="rect">
            <a:avLst/>
          </a:prstGeom>
          <a:noFill/>
          <a:ln/>
        </p:spPr>
        <p:txBody>
          <a:bodyPr wrap="square" lIns="0" tIns="0" rIns="0" bIns="0" rtlCol="0" anchor="ctr"/>
          <a:lstStyle/>
          <a:p>
            <a:pPr marL="0" indent="0">
              <a:buNone/>
            </a:pPr>
            <a:r>
              <a:rPr lang="en-US" sz="1500" b="1" dirty="0">
                <a:solidFill>
                  <a:srgbClr val="9FD6CE"/>
                </a:solidFill>
                <a:latin typeface="Arial" pitchFamily="34" charset="0"/>
                <a:ea typeface="Arial" pitchFamily="34" charset="-122"/>
                <a:cs typeface="Arial" pitchFamily="34" charset="-120"/>
              </a:rPr>
              <a:t>CEMENT SECTOR</a:t>
            </a:r>
            <a:endParaRPr lang="en-US" sz="1500" dirty="0"/>
          </a:p>
        </p:txBody>
      </p:sp>
      <p:sp>
        <p:nvSpPr>
          <p:cNvPr id="3" name="Text 1"/>
          <p:cNvSpPr txBox="1"/>
          <p:nvPr/>
        </p:nvSpPr>
        <p:spPr>
          <a:xfrm>
            <a:off x="548640" y="1645920"/>
            <a:ext cx="8046720" cy="914400"/>
          </a:xfrm>
          <a:prstGeom prst="rect">
            <a:avLst/>
          </a:prstGeom>
          <a:noFill/>
          <a:ln/>
        </p:spPr>
        <p:txBody>
          <a:bodyPr wrap="square" lIns="0" tIns="0" rIns="0" bIns="0" rtlCol="0" anchor="ctr"/>
          <a:lstStyle/>
          <a:p>
            <a:pPr marL="0" indent="0">
              <a:buNone/>
            </a:pPr>
            <a:r>
              <a:rPr lang="en-US" sz="3400" b="1" dirty="0">
                <a:solidFill>
                  <a:srgbClr val="FFFFFF"/>
                </a:solidFill>
                <a:latin typeface="Arial" pitchFamily="34" charset="0"/>
                <a:ea typeface="Arial" pitchFamily="34" charset="-122"/>
                <a:cs typeface="Arial" pitchFamily="34" charset="-120"/>
              </a:rPr>
              <a:t>Research and Investment Recommendation</a:t>
            </a:r>
            <a:endParaRPr lang="en-US" sz="3400" dirty="0"/>
          </a:p>
        </p:txBody>
      </p:sp>
      <p:sp>
        <p:nvSpPr>
          <p:cNvPr id="4" name="Text 2"/>
          <p:cNvSpPr txBox="1"/>
          <p:nvPr/>
        </p:nvSpPr>
        <p:spPr>
          <a:xfrm>
            <a:off x="548640" y="2743200"/>
            <a:ext cx="8046720" cy="457200"/>
          </a:xfrm>
          <a:prstGeom prst="rect">
            <a:avLst/>
          </a:prstGeom>
          <a:noFill/>
          <a:ln/>
        </p:spPr>
        <p:txBody>
          <a:bodyPr wrap="square" lIns="0" tIns="0" rIns="0" bIns="0" rtlCol="0" anchor="ctr"/>
          <a:lstStyle/>
          <a:p>
            <a:pPr marL="0" indent="0">
              <a:buNone/>
            </a:pPr>
            <a:r>
              <a:rPr lang="en-US" sz="1500" dirty="0">
                <a:solidFill>
                  <a:srgbClr val="CFE3F2"/>
                </a:solidFill>
                <a:latin typeface="Arial" pitchFamily="34" charset="0"/>
                <a:ea typeface="Arial" pitchFamily="34" charset="-122"/>
                <a:cs typeface="Arial" pitchFamily="34" charset="-120"/>
              </a:rPr>
              <a:t>UltraTech  |  Shree Cement  |  Ambuja Cements  |  JK Cement  |  Dalmia Bharat</a:t>
            </a:r>
            <a:endParaRPr lang="en-US" sz="1500" dirty="0"/>
          </a:p>
        </p:txBody>
      </p:sp>
      <p:sp>
        <p:nvSpPr>
          <p:cNvPr id="5" name="Text 3"/>
          <p:cNvSpPr txBox="1"/>
          <p:nvPr/>
        </p:nvSpPr>
        <p:spPr>
          <a:xfrm>
            <a:off x="575144" y="4206240"/>
            <a:ext cx="7315200" cy="36576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What the brief asked for, and where to find it</a:t>
            </a:r>
            <a:endParaRPr lang="en-US" sz="2100" dirty="0"/>
          </a:p>
        </p:txBody>
      </p:sp>
      <p:sp>
        <p:nvSpPr>
          <p:cNvPr id="3" name="Text 1"/>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00400"/>
        </p:xfrm>
        <a:graphic>
          <a:graphicData uri="http://schemas.openxmlformats.org/drawingml/2006/table">
            <a:tbl>
              <a:tblPr/>
              <a:tblGrid>
                <a:gridCol w="3657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45720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Brief item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Slides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Excel sheets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Sector overview and market trends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4-7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Macro &amp; Sector Data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Competitive landscape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8</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Capacity &amp; Efficiency, Qualitative Analysis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Cost structure and risk</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7, 18</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Cost &amp; Risk Assessment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Valuation metrics (P/E, P/B, ROE, margin, D/E)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9-16</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Ratio Analysis, CCA, Valuation Justification, Forward Valuation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Recommendation, short and long term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 19-25</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Recommendation Matrix, Rating Rationale, Investment Thesis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Estimates and data quality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26</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Data Quality Log, Model Checks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txBox="1"/>
          <p:nvPr/>
        </p:nvSpPr>
        <p:spPr>
          <a:xfrm>
            <a:off x="457200" y="4480560"/>
            <a:ext cx="8229600" cy="548640"/>
          </a:xfrm>
          <a:prstGeom prst="rect">
            <a:avLst/>
          </a:prstGeom>
          <a:noFill/>
          <a:ln/>
        </p:spPr>
        <p:txBody>
          <a:bodyPr wrap="square" lIns="0" tIns="0" rIns="0" bIns="0" rtlCol="0" anchor="t"/>
          <a:lstStyle/>
          <a:p>
            <a:pPr marL="0" indent="0">
              <a:buNone/>
            </a:pPr>
            <a:r>
              <a:rPr lang="en-US" sz="1100" dirty="0" smtClean="0">
                <a:solidFill>
                  <a:srgbClr val="222B36"/>
                </a:solidFill>
                <a:latin typeface="Arial" pitchFamily="34" charset="0"/>
                <a:ea typeface="Arial" pitchFamily="34" charset="-122"/>
                <a:cs typeface="Arial"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Executive summary</a:t>
            </a:r>
            <a:endParaRPr lang="en-US" sz="2100" dirty="0"/>
          </a:p>
        </p:txBody>
      </p:sp>
      <p:sp>
        <p:nvSpPr>
          <p:cNvPr id="3" name="Text 1"/>
          <p:cNvSpPr txBox="1"/>
          <p:nvPr/>
        </p:nvSpPr>
        <p:spPr>
          <a:xfrm>
            <a:off x="438912" y="685800"/>
            <a:ext cx="8229600" cy="320040"/>
          </a:xfrm>
          <a:prstGeom prst="rect">
            <a:avLst/>
          </a:prstGeom>
          <a:noFill/>
          <a:ln/>
        </p:spPr>
        <p:txBody>
          <a:bodyPr wrap="square" lIns="0" tIns="0" rIns="0" bIns="0" rtlCol="0" anchor="ctr"/>
          <a:lstStyle/>
          <a:p>
            <a:pPr marL="0" indent="0">
              <a:buNone/>
            </a:pP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3</a:t>
            </a:r>
            <a:endParaRPr lang="en-US" sz="900" dirty="0"/>
          </a:p>
        </p:txBody>
      </p:sp>
      <p:sp>
        <p:nvSpPr>
          <p:cNvPr id="5" name="Shape 3"/>
          <p:cNvSpPr/>
          <p:nvPr/>
        </p:nvSpPr>
        <p:spPr>
          <a:xfrm>
            <a:off x="457200" y="1097280"/>
            <a:ext cx="1554480" cy="1554480"/>
          </a:xfrm>
          <a:prstGeom prst="roundRect">
            <a:avLst>
              <a:gd name="adj" fmla="val 4706"/>
            </a:avLst>
          </a:prstGeom>
          <a:solidFill>
            <a:srgbClr val="F1F4F8"/>
          </a:solidFill>
          <a:ln w="12700">
            <a:solidFill>
              <a:srgbClr val="F1F4F8"/>
            </a:solidFill>
            <a:prstDash val="solid"/>
          </a:ln>
        </p:spPr>
      </p:sp>
      <p:sp>
        <p:nvSpPr>
          <p:cNvPr id="6" name="Text 4"/>
          <p:cNvSpPr txBox="1"/>
          <p:nvPr/>
        </p:nvSpPr>
        <p:spPr>
          <a:xfrm>
            <a:off x="548640" y="1161288"/>
            <a:ext cx="1371600" cy="274320"/>
          </a:xfrm>
          <a:prstGeom prst="rect">
            <a:avLst/>
          </a:prstGeom>
          <a:noFill/>
          <a:ln/>
        </p:spPr>
        <p:txBody>
          <a:bodyPr wrap="square" lIns="0" tIns="0" rIns="0" bIns="0" rtlCol="0" anchor="ctr"/>
          <a:lstStyle/>
          <a:p>
            <a:pPr marL="0" indent="0">
              <a:buNone/>
            </a:pPr>
            <a:r>
              <a:rPr lang="en-US" sz="1200" b="1" dirty="0">
                <a:solidFill>
                  <a:srgbClr val="1F3A5F"/>
                </a:solidFill>
                <a:latin typeface="Arial" pitchFamily="34" charset="0"/>
                <a:ea typeface="Arial" pitchFamily="34" charset="-122"/>
                <a:cs typeface="Arial" pitchFamily="34" charset="-120"/>
              </a:rPr>
              <a:t>UltraTech</a:t>
            </a:r>
            <a:endParaRPr lang="en-US" sz="1200" dirty="0"/>
          </a:p>
        </p:txBody>
      </p:sp>
      <p:sp>
        <p:nvSpPr>
          <p:cNvPr id="7" name="Text 5"/>
          <p:cNvSpPr txBox="1"/>
          <p:nvPr/>
        </p:nvSpPr>
        <p:spPr>
          <a:xfrm>
            <a:off x="548640" y="1444752"/>
            <a:ext cx="1371600" cy="274320"/>
          </a:xfrm>
          <a:prstGeom prst="rect">
            <a:avLst/>
          </a:prstGeom>
          <a:noFill/>
          <a:ln/>
        </p:spPr>
        <p:txBody>
          <a:bodyPr wrap="square" lIns="0" tIns="0" rIns="0" bIns="0" rtlCol="0" anchor="ctr"/>
          <a:lstStyle/>
          <a:p>
            <a:pPr marL="0" indent="0">
              <a:buNone/>
            </a:pPr>
            <a:r>
              <a:rPr lang="en-US" sz="1300" b="1" dirty="0">
                <a:solidFill>
                  <a:srgbClr val="1B7F5A"/>
                </a:solidFill>
                <a:latin typeface="Arial" pitchFamily="34" charset="0"/>
                <a:ea typeface="Arial" pitchFamily="34" charset="-122"/>
                <a:cs typeface="Arial" pitchFamily="34" charset="-120"/>
              </a:rPr>
              <a:t>OVERWEIGHT</a:t>
            </a:r>
            <a:endParaRPr lang="en-US" sz="1300" dirty="0"/>
          </a:p>
        </p:txBody>
      </p:sp>
      <p:sp>
        <p:nvSpPr>
          <p:cNvPr id="8" name="Text 6"/>
          <p:cNvSpPr txBox="1"/>
          <p:nvPr/>
        </p:nvSpPr>
        <p:spPr>
          <a:xfrm>
            <a:off x="548640" y="1828800"/>
            <a:ext cx="1371600" cy="77724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Base case +18.9%</a:t>
            </a:r>
            <a:endParaRPr lang="en-US" sz="1000" dirty="0"/>
          </a:p>
          <a:p>
            <a:pPr marL="0" indent="0">
              <a:buNone/>
            </a:pPr>
            <a:r>
              <a:rPr lang="en-US" sz="1000" dirty="0">
                <a:solidFill>
                  <a:srgbClr val="222B36"/>
                </a:solidFill>
                <a:latin typeface="Arial" pitchFamily="34" charset="0"/>
                <a:ea typeface="Arial" pitchFamily="34" charset="-122"/>
                <a:cs typeface="Arial" pitchFamily="34" charset="-120"/>
              </a:rPr>
              <a:t>P/E 39.0x</a:t>
            </a:r>
            <a:endParaRPr lang="en-US" sz="1000" dirty="0"/>
          </a:p>
          <a:p>
            <a:pPr marL="0" indent="0">
              <a:buNone/>
            </a:pPr>
            <a:endParaRPr lang="en-US" sz="1000" dirty="0"/>
          </a:p>
        </p:txBody>
      </p:sp>
      <p:sp>
        <p:nvSpPr>
          <p:cNvPr id="9" name="Shape 7"/>
          <p:cNvSpPr/>
          <p:nvPr/>
        </p:nvSpPr>
        <p:spPr>
          <a:xfrm>
            <a:off x="2121408" y="1097280"/>
            <a:ext cx="1554480" cy="1554480"/>
          </a:xfrm>
          <a:prstGeom prst="roundRect">
            <a:avLst>
              <a:gd name="adj" fmla="val 4706"/>
            </a:avLst>
          </a:prstGeom>
          <a:solidFill>
            <a:srgbClr val="F1F4F8"/>
          </a:solidFill>
          <a:ln w="12700">
            <a:solidFill>
              <a:srgbClr val="F1F4F8"/>
            </a:solidFill>
            <a:prstDash val="solid"/>
          </a:ln>
        </p:spPr>
      </p:sp>
      <p:sp>
        <p:nvSpPr>
          <p:cNvPr id="10" name="Text 8"/>
          <p:cNvSpPr txBox="1"/>
          <p:nvPr/>
        </p:nvSpPr>
        <p:spPr>
          <a:xfrm>
            <a:off x="2212848" y="1161288"/>
            <a:ext cx="1371600" cy="274320"/>
          </a:xfrm>
          <a:prstGeom prst="rect">
            <a:avLst/>
          </a:prstGeom>
          <a:noFill/>
          <a:ln/>
        </p:spPr>
        <p:txBody>
          <a:bodyPr wrap="square" lIns="0" tIns="0" rIns="0" bIns="0" rtlCol="0" anchor="ctr"/>
          <a:lstStyle/>
          <a:p>
            <a:pPr marL="0" indent="0">
              <a:buNone/>
            </a:pPr>
            <a:r>
              <a:rPr lang="en-US" sz="1200" b="1" dirty="0">
                <a:solidFill>
                  <a:srgbClr val="1F3A5F"/>
                </a:solidFill>
                <a:latin typeface="Arial" pitchFamily="34" charset="0"/>
                <a:ea typeface="Arial" pitchFamily="34" charset="-122"/>
                <a:cs typeface="Arial" pitchFamily="34" charset="-120"/>
              </a:rPr>
              <a:t>Shree</a:t>
            </a:r>
            <a:endParaRPr lang="en-US" sz="1200" dirty="0"/>
          </a:p>
        </p:txBody>
      </p:sp>
      <p:sp>
        <p:nvSpPr>
          <p:cNvPr id="11" name="Text 9"/>
          <p:cNvSpPr txBox="1"/>
          <p:nvPr/>
        </p:nvSpPr>
        <p:spPr>
          <a:xfrm>
            <a:off x="2212848" y="1444752"/>
            <a:ext cx="1371600" cy="274320"/>
          </a:xfrm>
          <a:prstGeom prst="rect">
            <a:avLst/>
          </a:prstGeom>
          <a:noFill/>
          <a:ln/>
        </p:spPr>
        <p:txBody>
          <a:bodyPr wrap="square" lIns="0" tIns="0" rIns="0" bIns="0" rtlCol="0" anchor="ctr"/>
          <a:lstStyle/>
          <a:p>
            <a:pPr marL="0" indent="0">
              <a:buNone/>
            </a:pPr>
            <a:r>
              <a:rPr lang="en-US" sz="1300" b="1" dirty="0">
                <a:solidFill>
                  <a:srgbClr val="5B6675"/>
                </a:solidFill>
                <a:latin typeface="Arial" pitchFamily="34" charset="0"/>
                <a:ea typeface="Arial" pitchFamily="34" charset="-122"/>
                <a:cs typeface="Arial" pitchFamily="34" charset="-120"/>
              </a:rPr>
              <a:t>HOLD</a:t>
            </a:r>
            <a:endParaRPr lang="en-US" sz="1300" dirty="0"/>
          </a:p>
        </p:txBody>
      </p:sp>
      <p:sp>
        <p:nvSpPr>
          <p:cNvPr id="12" name="Text 10"/>
          <p:cNvSpPr txBox="1"/>
          <p:nvPr/>
        </p:nvSpPr>
        <p:spPr>
          <a:xfrm>
            <a:off x="2212848" y="1828800"/>
            <a:ext cx="1371600" cy="77724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Base case +0.6%</a:t>
            </a:r>
            <a:endParaRPr lang="en-US" sz="1000" dirty="0"/>
          </a:p>
          <a:p>
            <a:pPr marL="0" indent="0">
              <a:buNone/>
            </a:pPr>
            <a:r>
              <a:rPr lang="en-US" sz="1000" dirty="0">
                <a:solidFill>
                  <a:srgbClr val="222B36"/>
                </a:solidFill>
                <a:latin typeface="Arial" pitchFamily="34" charset="0"/>
                <a:ea typeface="Arial" pitchFamily="34" charset="-122"/>
                <a:cs typeface="Arial" pitchFamily="34" charset="-120"/>
              </a:rPr>
              <a:t>P/E </a:t>
            </a:r>
            <a:r>
              <a:rPr lang="en-US" sz="1000" dirty="0" smtClean="0">
                <a:solidFill>
                  <a:srgbClr val="222B36"/>
                </a:solidFill>
                <a:latin typeface="Arial" pitchFamily="34" charset="0"/>
                <a:ea typeface="Arial" pitchFamily="34" charset="-122"/>
                <a:cs typeface="Arial" pitchFamily="34" charset="-120"/>
              </a:rPr>
              <a:t>45.2x</a:t>
            </a:r>
            <a:endParaRPr lang="en-US" sz="1000" dirty="0"/>
          </a:p>
        </p:txBody>
      </p:sp>
      <p:sp>
        <p:nvSpPr>
          <p:cNvPr id="13" name="Shape 11"/>
          <p:cNvSpPr/>
          <p:nvPr/>
        </p:nvSpPr>
        <p:spPr>
          <a:xfrm>
            <a:off x="3785616" y="1097280"/>
            <a:ext cx="1554480" cy="1554480"/>
          </a:xfrm>
          <a:prstGeom prst="roundRect">
            <a:avLst>
              <a:gd name="adj" fmla="val 4706"/>
            </a:avLst>
          </a:prstGeom>
          <a:solidFill>
            <a:srgbClr val="F1F4F8"/>
          </a:solidFill>
          <a:ln w="12700">
            <a:solidFill>
              <a:srgbClr val="F1F4F8"/>
            </a:solidFill>
            <a:prstDash val="solid"/>
          </a:ln>
        </p:spPr>
      </p:sp>
      <p:sp>
        <p:nvSpPr>
          <p:cNvPr id="14" name="Text 12"/>
          <p:cNvSpPr txBox="1"/>
          <p:nvPr/>
        </p:nvSpPr>
        <p:spPr>
          <a:xfrm>
            <a:off x="3877056" y="1161288"/>
            <a:ext cx="1371600" cy="274320"/>
          </a:xfrm>
          <a:prstGeom prst="rect">
            <a:avLst/>
          </a:prstGeom>
          <a:noFill/>
          <a:ln/>
        </p:spPr>
        <p:txBody>
          <a:bodyPr wrap="square" lIns="0" tIns="0" rIns="0" bIns="0" rtlCol="0" anchor="ctr"/>
          <a:lstStyle/>
          <a:p>
            <a:pPr marL="0" indent="0">
              <a:buNone/>
            </a:pPr>
            <a:r>
              <a:rPr lang="en-US" sz="1200" b="1" dirty="0">
                <a:solidFill>
                  <a:srgbClr val="1F3A5F"/>
                </a:solidFill>
                <a:latin typeface="Arial" pitchFamily="34" charset="0"/>
                <a:ea typeface="Arial" pitchFamily="34" charset="-122"/>
                <a:cs typeface="Arial" pitchFamily="34" charset="-120"/>
              </a:rPr>
              <a:t>Ambuja</a:t>
            </a:r>
            <a:endParaRPr lang="en-US" sz="1200" dirty="0"/>
          </a:p>
        </p:txBody>
      </p:sp>
      <p:sp>
        <p:nvSpPr>
          <p:cNvPr id="15" name="Text 13"/>
          <p:cNvSpPr txBox="1"/>
          <p:nvPr/>
        </p:nvSpPr>
        <p:spPr>
          <a:xfrm>
            <a:off x="3877056" y="1444752"/>
            <a:ext cx="1371600" cy="274320"/>
          </a:xfrm>
          <a:prstGeom prst="rect">
            <a:avLst/>
          </a:prstGeom>
          <a:noFill/>
          <a:ln/>
        </p:spPr>
        <p:txBody>
          <a:bodyPr wrap="square" lIns="0" tIns="0" rIns="0" bIns="0" rtlCol="0" anchor="ctr"/>
          <a:lstStyle/>
          <a:p>
            <a:pPr marL="0" indent="0">
              <a:buNone/>
            </a:pPr>
            <a:r>
              <a:rPr lang="en-US" sz="1300" b="1" dirty="0">
                <a:solidFill>
                  <a:srgbClr val="1B7F5A"/>
                </a:solidFill>
                <a:latin typeface="Arial" pitchFamily="34" charset="0"/>
                <a:ea typeface="Arial" pitchFamily="34" charset="-122"/>
                <a:cs typeface="Arial" pitchFamily="34" charset="-120"/>
              </a:rPr>
              <a:t>OVERWEIGHT</a:t>
            </a:r>
            <a:endParaRPr lang="en-US" sz="1300" dirty="0"/>
          </a:p>
        </p:txBody>
      </p:sp>
      <p:sp>
        <p:nvSpPr>
          <p:cNvPr id="16" name="Text 14"/>
          <p:cNvSpPr txBox="1"/>
          <p:nvPr/>
        </p:nvSpPr>
        <p:spPr>
          <a:xfrm>
            <a:off x="3877056" y="1828800"/>
            <a:ext cx="1371600" cy="77724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Base case +49.8%</a:t>
            </a:r>
            <a:endParaRPr lang="en-US" sz="1000" dirty="0"/>
          </a:p>
          <a:p>
            <a:pPr marL="0" indent="0">
              <a:buNone/>
            </a:pPr>
            <a:r>
              <a:rPr lang="en-US" sz="1000" dirty="0">
                <a:solidFill>
                  <a:srgbClr val="222B36"/>
                </a:solidFill>
                <a:latin typeface="Arial" pitchFamily="34" charset="0"/>
                <a:ea typeface="Arial" pitchFamily="34" charset="-122"/>
                <a:cs typeface="Arial" pitchFamily="34" charset="-120"/>
              </a:rPr>
              <a:t>P/E </a:t>
            </a:r>
            <a:r>
              <a:rPr lang="en-US" sz="1000" dirty="0" smtClean="0">
                <a:solidFill>
                  <a:srgbClr val="222B36"/>
                </a:solidFill>
                <a:latin typeface="Arial" pitchFamily="34" charset="0"/>
                <a:ea typeface="Arial" pitchFamily="34" charset="-122"/>
                <a:cs typeface="Arial" pitchFamily="34" charset="-120"/>
              </a:rPr>
              <a:t>20.7x</a:t>
            </a:r>
            <a:endParaRPr lang="en-US" sz="1000" dirty="0"/>
          </a:p>
        </p:txBody>
      </p:sp>
      <p:sp>
        <p:nvSpPr>
          <p:cNvPr id="17" name="Shape 15"/>
          <p:cNvSpPr/>
          <p:nvPr/>
        </p:nvSpPr>
        <p:spPr>
          <a:xfrm>
            <a:off x="5449824" y="1097280"/>
            <a:ext cx="1554480" cy="1554480"/>
          </a:xfrm>
          <a:prstGeom prst="roundRect">
            <a:avLst>
              <a:gd name="adj" fmla="val 4706"/>
            </a:avLst>
          </a:prstGeom>
          <a:solidFill>
            <a:srgbClr val="F1F4F8"/>
          </a:solidFill>
          <a:ln w="12700">
            <a:solidFill>
              <a:srgbClr val="F1F4F8"/>
            </a:solidFill>
            <a:prstDash val="solid"/>
          </a:ln>
        </p:spPr>
      </p:sp>
      <p:sp>
        <p:nvSpPr>
          <p:cNvPr id="18" name="Text 16"/>
          <p:cNvSpPr txBox="1"/>
          <p:nvPr/>
        </p:nvSpPr>
        <p:spPr>
          <a:xfrm>
            <a:off x="5541264" y="1161288"/>
            <a:ext cx="1371600" cy="274320"/>
          </a:xfrm>
          <a:prstGeom prst="rect">
            <a:avLst/>
          </a:prstGeom>
          <a:noFill/>
          <a:ln/>
        </p:spPr>
        <p:txBody>
          <a:bodyPr wrap="square" lIns="0" tIns="0" rIns="0" bIns="0" rtlCol="0" anchor="ctr"/>
          <a:lstStyle/>
          <a:p>
            <a:pPr marL="0" indent="0">
              <a:buNone/>
            </a:pPr>
            <a:r>
              <a:rPr lang="en-US" sz="1200" b="1" dirty="0">
                <a:solidFill>
                  <a:srgbClr val="1F3A5F"/>
                </a:solidFill>
                <a:latin typeface="Arial" pitchFamily="34" charset="0"/>
                <a:ea typeface="Arial" pitchFamily="34" charset="-122"/>
                <a:cs typeface="Arial" pitchFamily="34" charset="-120"/>
              </a:rPr>
              <a:t>JK Cement</a:t>
            </a:r>
            <a:endParaRPr lang="en-US" sz="1200" dirty="0"/>
          </a:p>
        </p:txBody>
      </p:sp>
      <p:sp>
        <p:nvSpPr>
          <p:cNvPr id="19" name="Text 17"/>
          <p:cNvSpPr txBox="1"/>
          <p:nvPr/>
        </p:nvSpPr>
        <p:spPr>
          <a:xfrm>
            <a:off x="5541264" y="1444752"/>
            <a:ext cx="1371600" cy="274320"/>
          </a:xfrm>
          <a:prstGeom prst="rect">
            <a:avLst/>
          </a:prstGeom>
          <a:noFill/>
          <a:ln/>
        </p:spPr>
        <p:txBody>
          <a:bodyPr wrap="square" lIns="0" tIns="0" rIns="0" bIns="0" rtlCol="0" anchor="ctr"/>
          <a:lstStyle/>
          <a:p>
            <a:pPr marL="0" indent="0">
              <a:buNone/>
            </a:pPr>
            <a:r>
              <a:rPr lang="en-US" sz="1300" b="1" dirty="0">
                <a:solidFill>
                  <a:srgbClr val="5B6675"/>
                </a:solidFill>
                <a:latin typeface="Arial" pitchFamily="34" charset="0"/>
                <a:ea typeface="Arial" pitchFamily="34" charset="-122"/>
                <a:cs typeface="Arial" pitchFamily="34" charset="-120"/>
              </a:rPr>
              <a:t>HOLD</a:t>
            </a:r>
            <a:endParaRPr lang="en-US" sz="1300" dirty="0"/>
          </a:p>
        </p:txBody>
      </p:sp>
      <p:sp>
        <p:nvSpPr>
          <p:cNvPr id="20" name="Text 18"/>
          <p:cNvSpPr txBox="1"/>
          <p:nvPr/>
        </p:nvSpPr>
        <p:spPr>
          <a:xfrm>
            <a:off x="5541264" y="1828800"/>
            <a:ext cx="1371600" cy="77724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Base case +15.7%</a:t>
            </a:r>
            <a:endParaRPr lang="en-US" sz="1000" dirty="0"/>
          </a:p>
          <a:p>
            <a:pPr marL="0" indent="0">
              <a:buNone/>
            </a:pPr>
            <a:r>
              <a:rPr lang="en-US" sz="1000" dirty="0">
                <a:solidFill>
                  <a:srgbClr val="222B36"/>
                </a:solidFill>
                <a:latin typeface="Arial" pitchFamily="34" charset="0"/>
                <a:ea typeface="Arial" pitchFamily="34" charset="-122"/>
                <a:cs typeface="Arial" pitchFamily="34" charset="-120"/>
              </a:rPr>
              <a:t>P/E </a:t>
            </a:r>
            <a:r>
              <a:rPr lang="en-US" sz="1000" dirty="0" smtClean="0">
                <a:solidFill>
                  <a:srgbClr val="222B36"/>
                </a:solidFill>
                <a:latin typeface="Arial" pitchFamily="34" charset="0"/>
                <a:ea typeface="Arial" pitchFamily="34" charset="-122"/>
                <a:cs typeface="Arial" pitchFamily="34" charset="-120"/>
              </a:rPr>
              <a:t>39.2x</a:t>
            </a:r>
            <a:endParaRPr lang="en-US" sz="1000" dirty="0"/>
          </a:p>
        </p:txBody>
      </p:sp>
      <p:sp>
        <p:nvSpPr>
          <p:cNvPr id="21" name="Shape 19"/>
          <p:cNvSpPr/>
          <p:nvPr/>
        </p:nvSpPr>
        <p:spPr>
          <a:xfrm>
            <a:off x="7114032" y="1097280"/>
            <a:ext cx="1554480" cy="1554480"/>
          </a:xfrm>
          <a:prstGeom prst="roundRect">
            <a:avLst>
              <a:gd name="adj" fmla="val 4706"/>
            </a:avLst>
          </a:prstGeom>
          <a:solidFill>
            <a:srgbClr val="F1F4F8"/>
          </a:solidFill>
          <a:ln w="12700">
            <a:solidFill>
              <a:srgbClr val="F1F4F8"/>
            </a:solidFill>
            <a:prstDash val="solid"/>
          </a:ln>
        </p:spPr>
      </p:sp>
      <p:sp>
        <p:nvSpPr>
          <p:cNvPr id="22" name="Text 20"/>
          <p:cNvSpPr txBox="1"/>
          <p:nvPr/>
        </p:nvSpPr>
        <p:spPr>
          <a:xfrm>
            <a:off x="7205472" y="1161288"/>
            <a:ext cx="1371600" cy="274320"/>
          </a:xfrm>
          <a:prstGeom prst="rect">
            <a:avLst/>
          </a:prstGeom>
          <a:noFill/>
          <a:ln/>
        </p:spPr>
        <p:txBody>
          <a:bodyPr wrap="square" lIns="0" tIns="0" rIns="0" bIns="0" rtlCol="0" anchor="ctr"/>
          <a:lstStyle/>
          <a:p>
            <a:pPr marL="0" indent="0">
              <a:buNone/>
            </a:pPr>
            <a:r>
              <a:rPr lang="en-US" sz="1200" b="1" dirty="0">
                <a:solidFill>
                  <a:srgbClr val="1F3A5F"/>
                </a:solidFill>
                <a:latin typeface="Arial" pitchFamily="34" charset="0"/>
                <a:ea typeface="Arial" pitchFamily="34" charset="-122"/>
                <a:cs typeface="Arial" pitchFamily="34" charset="-120"/>
              </a:rPr>
              <a:t>Dalmia</a:t>
            </a:r>
            <a:endParaRPr lang="en-US" sz="1200" dirty="0"/>
          </a:p>
        </p:txBody>
      </p:sp>
      <p:sp>
        <p:nvSpPr>
          <p:cNvPr id="23" name="Text 21"/>
          <p:cNvSpPr txBox="1"/>
          <p:nvPr/>
        </p:nvSpPr>
        <p:spPr>
          <a:xfrm>
            <a:off x="7205472" y="1444752"/>
            <a:ext cx="1371600" cy="274320"/>
          </a:xfrm>
          <a:prstGeom prst="rect">
            <a:avLst/>
          </a:prstGeom>
          <a:noFill/>
          <a:ln/>
        </p:spPr>
        <p:txBody>
          <a:bodyPr wrap="square" lIns="0" tIns="0" rIns="0" bIns="0" rtlCol="0" anchor="ctr"/>
          <a:lstStyle/>
          <a:p>
            <a:pPr marL="0" indent="0">
              <a:buNone/>
            </a:pPr>
            <a:r>
              <a:rPr lang="en-US" sz="1300" b="1" dirty="0">
                <a:solidFill>
                  <a:srgbClr val="5B6675"/>
                </a:solidFill>
                <a:latin typeface="Arial" pitchFamily="34" charset="0"/>
                <a:ea typeface="Arial" pitchFamily="34" charset="-122"/>
                <a:cs typeface="Arial" pitchFamily="34" charset="-120"/>
              </a:rPr>
              <a:t>HOLD</a:t>
            </a:r>
            <a:endParaRPr lang="en-US" sz="1300" dirty="0"/>
          </a:p>
        </p:txBody>
      </p:sp>
      <p:sp>
        <p:nvSpPr>
          <p:cNvPr id="24" name="Text 22"/>
          <p:cNvSpPr txBox="1"/>
          <p:nvPr/>
        </p:nvSpPr>
        <p:spPr>
          <a:xfrm>
            <a:off x="7205472" y="1828800"/>
            <a:ext cx="1371600" cy="77724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Base case +33.4%</a:t>
            </a:r>
            <a:endParaRPr lang="en-US" sz="1000" dirty="0"/>
          </a:p>
          <a:p>
            <a:pPr marL="0" indent="0">
              <a:buNone/>
            </a:pPr>
            <a:r>
              <a:rPr lang="en-US" sz="1000" dirty="0">
                <a:solidFill>
                  <a:srgbClr val="222B36"/>
                </a:solidFill>
                <a:latin typeface="Arial" pitchFamily="34" charset="0"/>
                <a:ea typeface="Arial" pitchFamily="34" charset="-122"/>
                <a:cs typeface="Arial" pitchFamily="34" charset="-120"/>
              </a:rPr>
              <a:t>P/E 27.4x</a:t>
            </a:r>
            <a:endParaRPr lang="en-US" sz="1000" dirty="0"/>
          </a:p>
          <a:p>
            <a:pPr marL="0" indent="0">
              <a:buNone/>
            </a:pPr>
            <a:endParaRPr lang="en-US" sz="1000" dirty="0"/>
          </a:p>
        </p:txBody>
      </p:sp>
      <p:sp>
        <p:nvSpPr>
          <p:cNvPr id="25" name="Text 23"/>
          <p:cNvSpPr txBox="1"/>
          <p:nvPr/>
        </p:nvSpPr>
        <p:spPr>
          <a:xfrm>
            <a:off x="457200" y="2834640"/>
            <a:ext cx="8229600" cy="18288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22B36"/>
                </a:solidFill>
                <a:latin typeface="Arial" pitchFamily="34" charset="0"/>
                <a:ea typeface="Arial" pitchFamily="34" charset="-122"/>
                <a:cs typeface="Arial" pitchFamily="34" charset="-120"/>
              </a:rPr>
              <a:t>UltraTech and Ambuja score three net votes, the minimum for overweight. UltraTech drops to hold if FY27-28 margins are 100 bps lower.</a:t>
            </a:r>
            <a:endParaRPr lang="en-US" sz="1150" dirty="0"/>
          </a:p>
          <a:p>
            <a:pPr marL="342900" indent="-342900">
              <a:spcAft>
                <a:spcPts val="500"/>
              </a:spcAft>
              <a:buSzPct val="100000"/>
              <a:buChar char="•"/>
            </a:pPr>
            <a:r>
              <a:rPr lang="en-US" sz="1150" dirty="0">
                <a:solidFill>
                  <a:srgbClr val="222B36"/>
                </a:solidFill>
                <a:latin typeface="Arial" pitchFamily="34" charset="0"/>
                <a:ea typeface="Arial" pitchFamily="34" charset="-122"/>
                <a:cs typeface="Arial" pitchFamily="34" charset="-120"/>
              </a:rPr>
              <a:t>Shree is fully valued, JK Cement has the best ROE but the heaviest debt, and Dalmia looks cheap but revenue is flat.</a:t>
            </a:r>
            <a:endParaRPr lang="en-US" sz="1150" dirty="0"/>
          </a:p>
          <a:p>
            <a:pPr marL="342900" indent="-342900">
              <a:spcAft>
                <a:spcPts val="500"/>
              </a:spcAft>
              <a:buSzPct val="100000"/>
              <a:buChar char="•"/>
            </a:pPr>
            <a:r>
              <a:rPr lang="en-US" sz="1150" dirty="0">
                <a:solidFill>
                  <a:srgbClr val="222B36"/>
                </a:solidFill>
                <a:latin typeface="Arial" pitchFamily="34" charset="0"/>
                <a:ea typeface="Arial" pitchFamily="34" charset="-122"/>
                <a:cs typeface="Arial" pitchFamily="34" charset="-120"/>
              </a:rPr>
              <a:t>The peer median overstates Ambuja and Dalmia, so we assume only part of their discount closes (slide 15).</a:t>
            </a:r>
            <a:endParaRPr lang="en-US" sz="1150" dirty="0"/>
          </a:p>
          <a:p>
            <a:pPr marL="342900" indent="-342900">
              <a:spcAft>
                <a:spcPts val="500"/>
              </a:spcAft>
              <a:buSzPct val="100000"/>
              <a:buChar char="•"/>
            </a:pPr>
            <a:r>
              <a:rPr lang="en-US" sz="1150" dirty="0">
                <a:solidFill>
                  <a:srgbClr val="222B36"/>
                </a:solidFill>
                <a:latin typeface="Arial" pitchFamily="34" charset="0"/>
                <a:ea typeface="Arial" pitchFamily="34" charset="-122"/>
                <a:cs typeface="Arial" pitchFamily="34" charset="-120"/>
              </a:rPr>
              <a:t>Near term, fuel and freight costs keep FY27 earnings growth modest across the group.</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Sector overview: what cement is and how it is made</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Grey cement dominates volumes; the economics depend on limestone, fuel and freight.</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4</a:t>
            </a:r>
            <a:endParaRPr lang="en-US" sz="900" dirty="0"/>
          </a:p>
        </p:txBody>
      </p:sp>
      <p:sp>
        <p:nvSpPr>
          <p:cNvPr id="5" name="Shape 3"/>
          <p:cNvSpPr/>
          <p:nvPr/>
        </p:nvSpPr>
        <p:spPr>
          <a:xfrm>
            <a:off x="457200" y="1097280"/>
            <a:ext cx="2651760" cy="2743200"/>
          </a:xfrm>
          <a:prstGeom prst="roundRect">
            <a:avLst>
              <a:gd name="adj" fmla="val 2759"/>
            </a:avLst>
          </a:prstGeom>
          <a:solidFill>
            <a:srgbClr val="F1F4F8"/>
          </a:solidFill>
          <a:ln w="12700">
            <a:solidFill>
              <a:srgbClr val="F1F4F8"/>
            </a:solidFill>
            <a:prstDash val="solid"/>
          </a:ln>
        </p:spPr>
      </p:sp>
      <p:sp>
        <p:nvSpPr>
          <p:cNvPr id="6" name="Text 4"/>
          <p:cNvSpPr txBox="1"/>
          <p:nvPr/>
        </p:nvSpPr>
        <p:spPr>
          <a:xfrm>
            <a:off x="594360" y="1170432"/>
            <a:ext cx="2377440" cy="274320"/>
          </a:xfrm>
          <a:prstGeom prst="rect">
            <a:avLst/>
          </a:prstGeom>
          <a:noFill/>
          <a:ln/>
        </p:spPr>
        <p:txBody>
          <a:bodyPr wrap="square" lIns="0" tIns="0" rIns="0" bIns="0" rtlCol="0" anchor="ctr"/>
          <a:lstStyle/>
          <a:p>
            <a:pPr marL="0" indent="0">
              <a:buNone/>
            </a:pPr>
            <a:r>
              <a:rPr lang="en-US" sz="1300" b="1" dirty="0">
                <a:solidFill>
                  <a:srgbClr val="1F3A5F"/>
                </a:solidFill>
                <a:latin typeface="Arial" pitchFamily="34" charset="0"/>
                <a:ea typeface="Arial" pitchFamily="34" charset="-122"/>
                <a:cs typeface="Arial" pitchFamily="34" charset="-120"/>
              </a:rPr>
              <a:t>Main types</a:t>
            </a:r>
            <a:endParaRPr lang="en-US" sz="1300" dirty="0"/>
          </a:p>
        </p:txBody>
      </p:sp>
      <p:sp>
        <p:nvSpPr>
          <p:cNvPr id="7" name="Text 5"/>
          <p:cNvSpPr txBox="1"/>
          <p:nvPr/>
        </p:nvSpPr>
        <p:spPr>
          <a:xfrm>
            <a:off x="594360" y="1508760"/>
            <a:ext cx="2377440" cy="22860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OPC: ordinary Portland cement, used where early strength matters</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PPC: blended with fly ash, the most common choice for housing</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PSC: blended with slag, used in marine and mass concrete</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White cement and wall putty: higher-value finishing products</a:t>
            </a:r>
            <a:endParaRPr lang="en-US" sz="1050" dirty="0"/>
          </a:p>
        </p:txBody>
      </p:sp>
      <p:sp>
        <p:nvSpPr>
          <p:cNvPr id="8" name="Shape 6"/>
          <p:cNvSpPr/>
          <p:nvPr/>
        </p:nvSpPr>
        <p:spPr>
          <a:xfrm>
            <a:off x="3246120" y="1097280"/>
            <a:ext cx="2651760" cy="2743200"/>
          </a:xfrm>
          <a:prstGeom prst="roundRect">
            <a:avLst>
              <a:gd name="adj" fmla="val 2759"/>
            </a:avLst>
          </a:prstGeom>
          <a:solidFill>
            <a:srgbClr val="F1F4F8"/>
          </a:solidFill>
          <a:ln w="12700">
            <a:solidFill>
              <a:srgbClr val="F1F4F8"/>
            </a:solidFill>
            <a:prstDash val="solid"/>
          </a:ln>
        </p:spPr>
      </p:sp>
      <p:sp>
        <p:nvSpPr>
          <p:cNvPr id="9" name="Text 7"/>
          <p:cNvSpPr txBox="1"/>
          <p:nvPr/>
        </p:nvSpPr>
        <p:spPr>
          <a:xfrm>
            <a:off x="3383280" y="1170432"/>
            <a:ext cx="2377440" cy="274320"/>
          </a:xfrm>
          <a:prstGeom prst="rect">
            <a:avLst/>
          </a:prstGeom>
          <a:noFill/>
          <a:ln/>
        </p:spPr>
        <p:txBody>
          <a:bodyPr wrap="square" lIns="0" tIns="0" rIns="0" bIns="0" rtlCol="0" anchor="ctr"/>
          <a:lstStyle/>
          <a:p>
            <a:pPr marL="0" indent="0">
              <a:buNone/>
            </a:pPr>
            <a:r>
              <a:rPr lang="en-US" sz="1300" b="1" dirty="0">
                <a:solidFill>
                  <a:srgbClr val="1F3A5F"/>
                </a:solidFill>
                <a:latin typeface="Arial" pitchFamily="34" charset="0"/>
                <a:ea typeface="Arial" pitchFamily="34" charset="-122"/>
                <a:cs typeface="Arial" pitchFamily="34" charset="-120"/>
              </a:rPr>
              <a:t>How it is produced</a:t>
            </a:r>
            <a:endParaRPr lang="en-US" sz="1300" dirty="0"/>
          </a:p>
        </p:txBody>
      </p:sp>
      <p:sp>
        <p:nvSpPr>
          <p:cNvPr id="10" name="Text 8"/>
          <p:cNvSpPr txBox="1"/>
          <p:nvPr/>
        </p:nvSpPr>
        <p:spPr>
          <a:xfrm>
            <a:off x="3383280" y="1508760"/>
            <a:ext cx="2377440" cy="22860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Limestone is quarried, crushed and blended with clay</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The mix is heated in a kiln to form clinker, the energy-hungry step</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Clinker is ground with gypsum and additives into cement</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Sold in bags through dealers, or in bulk to project sites</a:t>
            </a:r>
            <a:endParaRPr lang="en-US" sz="1050" dirty="0"/>
          </a:p>
        </p:txBody>
      </p:sp>
      <p:sp>
        <p:nvSpPr>
          <p:cNvPr id="11" name="Shape 9"/>
          <p:cNvSpPr/>
          <p:nvPr/>
        </p:nvSpPr>
        <p:spPr>
          <a:xfrm>
            <a:off x="6035040" y="1097280"/>
            <a:ext cx="2651760" cy="2743200"/>
          </a:xfrm>
          <a:prstGeom prst="roundRect">
            <a:avLst>
              <a:gd name="adj" fmla="val 2759"/>
            </a:avLst>
          </a:prstGeom>
          <a:solidFill>
            <a:srgbClr val="F1F4F8"/>
          </a:solidFill>
          <a:ln w="12700">
            <a:solidFill>
              <a:srgbClr val="F1F4F8"/>
            </a:solidFill>
            <a:prstDash val="solid"/>
          </a:ln>
        </p:spPr>
      </p:sp>
      <p:sp>
        <p:nvSpPr>
          <p:cNvPr id="12" name="Text 10"/>
          <p:cNvSpPr txBox="1"/>
          <p:nvPr/>
        </p:nvSpPr>
        <p:spPr>
          <a:xfrm>
            <a:off x="6172200" y="1170432"/>
            <a:ext cx="2377440" cy="274320"/>
          </a:xfrm>
          <a:prstGeom prst="rect">
            <a:avLst/>
          </a:prstGeom>
          <a:noFill/>
          <a:ln/>
        </p:spPr>
        <p:txBody>
          <a:bodyPr wrap="square" lIns="0" tIns="0" rIns="0" bIns="0" rtlCol="0" anchor="ctr"/>
          <a:lstStyle/>
          <a:p>
            <a:pPr marL="0" indent="0">
              <a:buNone/>
            </a:pPr>
            <a:r>
              <a:rPr lang="en-US" sz="1300" b="1" dirty="0">
                <a:solidFill>
                  <a:srgbClr val="1F3A5F"/>
                </a:solidFill>
                <a:latin typeface="Arial" pitchFamily="34" charset="0"/>
                <a:ea typeface="Arial" pitchFamily="34" charset="-122"/>
                <a:cs typeface="Arial" pitchFamily="34" charset="-120"/>
              </a:rPr>
              <a:t>Where it is used</a:t>
            </a:r>
            <a:endParaRPr lang="en-US" sz="1300" dirty="0"/>
          </a:p>
        </p:txBody>
      </p:sp>
      <p:sp>
        <p:nvSpPr>
          <p:cNvPr id="13" name="Text 11"/>
          <p:cNvSpPr txBox="1"/>
          <p:nvPr/>
        </p:nvSpPr>
        <p:spPr>
          <a:xfrm>
            <a:off x="6172200" y="1508760"/>
            <a:ext cx="2377440" cy="22860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Infrastructure: about 33% of demand</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Rural housing: 32% to 34% of demand</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Urban housing, commercial and industrial buildings make up the rest</a:t>
            </a:r>
            <a:endParaRPr lang="en-US" sz="1050" dirty="0"/>
          </a:p>
          <a:p>
            <a:pPr marL="342900" indent="-342900">
              <a:spcAft>
                <a:spcPts val="400"/>
              </a:spcAft>
              <a:buSzPct val="100000"/>
              <a:buChar char="•"/>
            </a:pPr>
            <a:r>
              <a:rPr lang="en-US" sz="1050" dirty="0">
                <a:solidFill>
                  <a:srgbClr val="222B36"/>
                </a:solidFill>
                <a:latin typeface="Arial" pitchFamily="34" charset="0"/>
                <a:ea typeface="Arial" pitchFamily="34" charset="-122"/>
                <a:cs typeface="Arial" pitchFamily="34" charset="-120"/>
              </a:rPr>
              <a:t>Demand tracks GDP and capex</a:t>
            </a:r>
            <a:endParaRPr lang="en-US" sz="1050" dirty="0"/>
          </a:p>
        </p:txBody>
      </p:sp>
      <p:sp>
        <p:nvSpPr>
          <p:cNvPr id="14" name="Text 12"/>
          <p:cNvSpPr txBox="1"/>
          <p:nvPr/>
        </p:nvSpPr>
        <p:spPr>
          <a:xfrm>
            <a:off x="457200" y="4023360"/>
            <a:ext cx="8229600" cy="54864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Why it matters for investors: cement is a heavy, low-value product, so plants near limestone and customers, with cheap power, earn the better margins.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Demand drivers: growth, capex and a capacity build-up</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Government spending supports volumes, but new capacity is arriving faster than demand.</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5</a:t>
            </a:r>
            <a:endParaRPr lang="en-US" sz="900" dirty="0"/>
          </a:p>
        </p:txBody>
      </p:sp>
      <p:sp>
        <p:nvSpPr>
          <p:cNvPr id="5" name="Text 3"/>
          <p:cNvSpPr txBox="1"/>
          <p:nvPr/>
        </p:nvSpPr>
        <p:spPr>
          <a:xfrm>
            <a:off x="457200" y="1097280"/>
            <a:ext cx="4114800" cy="34747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Real GDP grew an estimated 7.4% in FY26; FY27 is projected at 6.8% to 7.2% (RBI: 6.6%).</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Government policy leans on spending: Union capex is Rs 12.22 lakh crore in FY27 and effective capex is 4.4% of GDP.</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Volumes are guided up 6.0% to 7.0% in FY27, a demand-to-GDP multiplier of about 0.93x.</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Capacity grows about 7.3% a year to FY29, 0.8 points faster than demand, which limits pricing power.</a:t>
            </a:r>
            <a:endParaRPr lang="en-US" sz="1150" dirty="0"/>
          </a:p>
        </p:txBody>
      </p:sp>
      <p:graphicFrame>
        <p:nvGraphicFramePr>
          <p:cNvPr id="6" name="Chart 0"/>
          <p:cNvGraphicFramePr/>
          <p:nvPr/>
        </p:nvGraphicFramePr>
        <p:xfrm>
          <a:off x="4754880" y="1097280"/>
          <a:ext cx="3931920" cy="347472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Market trends: where demand is strong and where it is not</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Three things shape the next two years.</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6</a:t>
            </a:r>
            <a:endParaRPr lang="en-US" sz="900" dirty="0"/>
          </a:p>
        </p:txBody>
      </p:sp>
      <p:sp>
        <p:nvSpPr>
          <p:cNvPr id="5" name="Shape 3"/>
          <p:cNvSpPr/>
          <p:nvPr/>
        </p:nvSpPr>
        <p:spPr>
          <a:xfrm>
            <a:off x="457200" y="1097280"/>
            <a:ext cx="2651760" cy="3017520"/>
          </a:xfrm>
          <a:prstGeom prst="roundRect">
            <a:avLst>
              <a:gd name="adj" fmla="val 2759"/>
            </a:avLst>
          </a:prstGeom>
          <a:solidFill>
            <a:srgbClr val="F1F4F8"/>
          </a:solidFill>
          <a:ln w="12700">
            <a:solidFill>
              <a:srgbClr val="F1F4F8"/>
            </a:solidFill>
            <a:prstDash val="solid"/>
          </a:ln>
        </p:spPr>
      </p:sp>
      <p:sp>
        <p:nvSpPr>
          <p:cNvPr id="6" name="Text 4"/>
          <p:cNvSpPr txBox="1"/>
          <p:nvPr/>
        </p:nvSpPr>
        <p:spPr>
          <a:xfrm>
            <a:off x="594360" y="1188720"/>
            <a:ext cx="2377440" cy="548640"/>
          </a:xfrm>
          <a:prstGeom prst="rect">
            <a:avLst/>
          </a:prstGeom>
          <a:noFill/>
          <a:ln/>
        </p:spPr>
        <p:txBody>
          <a:bodyPr wrap="square" lIns="0" tIns="0" rIns="0" bIns="0" rtlCol="0" anchor="ctr"/>
          <a:lstStyle/>
          <a:p>
            <a:pPr marL="0" indent="0">
              <a:buNone/>
            </a:pPr>
            <a:r>
              <a:rPr lang="en-US" sz="1300" b="1" dirty="0">
                <a:solidFill>
                  <a:srgbClr val="1F3A5F"/>
                </a:solidFill>
                <a:latin typeface="Arial" pitchFamily="34" charset="0"/>
                <a:ea typeface="Arial" pitchFamily="34" charset="-122"/>
                <a:cs typeface="Arial" pitchFamily="34" charset="-120"/>
              </a:rPr>
              <a:t>Regional gap</a:t>
            </a:r>
            <a:endParaRPr lang="en-US" sz="1300" dirty="0"/>
          </a:p>
        </p:txBody>
      </p:sp>
      <p:sp>
        <p:nvSpPr>
          <p:cNvPr id="7" name="Text 5"/>
          <p:cNvSpPr txBox="1"/>
          <p:nvPr/>
        </p:nvSpPr>
        <p:spPr>
          <a:xfrm>
            <a:off x="594360" y="1783080"/>
            <a:ext cx="2377440" cy="228600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North and Central India run above the national ~70% utilisation. The South has a capacity overhang and saw the sharpest price falls in FY25, so South-heavy players earn less per tonne.</a:t>
            </a:r>
            <a:endParaRPr lang="en-US" sz="1100" dirty="0"/>
          </a:p>
        </p:txBody>
      </p:sp>
      <p:sp>
        <p:nvSpPr>
          <p:cNvPr id="8" name="Shape 6"/>
          <p:cNvSpPr/>
          <p:nvPr/>
        </p:nvSpPr>
        <p:spPr>
          <a:xfrm>
            <a:off x="3246120" y="1097280"/>
            <a:ext cx="2651760" cy="3017520"/>
          </a:xfrm>
          <a:prstGeom prst="roundRect">
            <a:avLst>
              <a:gd name="adj" fmla="val 2759"/>
            </a:avLst>
          </a:prstGeom>
          <a:solidFill>
            <a:srgbClr val="F1F4F8"/>
          </a:solidFill>
          <a:ln w="12700">
            <a:solidFill>
              <a:srgbClr val="F1F4F8"/>
            </a:solidFill>
            <a:prstDash val="solid"/>
          </a:ln>
        </p:spPr>
      </p:sp>
      <p:sp>
        <p:nvSpPr>
          <p:cNvPr id="9" name="Text 7"/>
          <p:cNvSpPr txBox="1"/>
          <p:nvPr/>
        </p:nvSpPr>
        <p:spPr>
          <a:xfrm>
            <a:off x="3383280" y="1188720"/>
            <a:ext cx="2377440" cy="548640"/>
          </a:xfrm>
          <a:prstGeom prst="rect">
            <a:avLst/>
          </a:prstGeom>
          <a:noFill/>
          <a:ln/>
        </p:spPr>
        <p:txBody>
          <a:bodyPr wrap="square" lIns="0" tIns="0" rIns="0" bIns="0" rtlCol="0" anchor="ctr"/>
          <a:lstStyle/>
          <a:p>
            <a:pPr marL="0" indent="0">
              <a:buNone/>
            </a:pPr>
            <a:r>
              <a:rPr lang="en-US" sz="1300" b="1" dirty="0">
                <a:solidFill>
                  <a:srgbClr val="1F3A5F"/>
                </a:solidFill>
                <a:latin typeface="Arial" pitchFamily="34" charset="0"/>
                <a:ea typeface="Arial" pitchFamily="34" charset="-122"/>
                <a:cs typeface="Arial" pitchFamily="34" charset="-120"/>
              </a:rPr>
              <a:t>Housing, urbanisation and infrastructure</a:t>
            </a:r>
            <a:endParaRPr lang="en-US" sz="1300" dirty="0"/>
          </a:p>
        </p:txBody>
      </p:sp>
      <p:sp>
        <p:nvSpPr>
          <p:cNvPr id="10" name="Text 8"/>
          <p:cNvSpPr txBox="1"/>
          <p:nvPr/>
        </p:nvSpPr>
        <p:spPr>
          <a:xfrm>
            <a:off x="3383280" y="1783080"/>
            <a:ext cx="2377440" cy="228600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Rural housing is about a third of demand and infrastructure another third; urbanisation keeps adding urban housing and commercial building. Effective central capex of Rs 17.15 lakh crore in FY27 supports bulk demand and favours scaled players.</a:t>
            </a:r>
            <a:endParaRPr lang="en-US" sz="1100" dirty="0"/>
          </a:p>
        </p:txBody>
      </p:sp>
      <p:sp>
        <p:nvSpPr>
          <p:cNvPr id="11" name="Shape 9"/>
          <p:cNvSpPr/>
          <p:nvPr/>
        </p:nvSpPr>
        <p:spPr>
          <a:xfrm>
            <a:off x="6035040" y="1097280"/>
            <a:ext cx="2651760" cy="3017520"/>
          </a:xfrm>
          <a:prstGeom prst="roundRect">
            <a:avLst>
              <a:gd name="adj" fmla="val 2759"/>
            </a:avLst>
          </a:prstGeom>
          <a:solidFill>
            <a:srgbClr val="F1F4F8"/>
          </a:solidFill>
          <a:ln w="12700">
            <a:solidFill>
              <a:srgbClr val="F1F4F8"/>
            </a:solidFill>
            <a:prstDash val="solid"/>
          </a:ln>
        </p:spPr>
      </p:sp>
      <p:sp>
        <p:nvSpPr>
          <p:cNvPr id="12" name="Text 10"/>
          <p:cNvSpPr txBox="1"/>
          <p:nvPr/>
        </p:nvSpPr>
        <p:spPr>
          <a:xfrm>
            <a:off x="6172200" y="1188720"/>
            <a:ext cx="2377440" cy="548640"/>
          </a:xfrm>
          <a:prstGeom prst="rect">
            <a:avLst/>
          </a:prstGeom>
          <a:noFill/>
          <a:ln/>
        </p:spPr>
        <p:txBody>
          <a:bodyPr wrap="square" lIns="0" tIns="0" rIns="0" bIns="0" rtlCol="0" anchor="ctr"/>
          <a:lstStyle/>
          <a:p>
            <a:pPr marL="0" indent="0">
              <a:buNone/>
            </a:pPr>
            <a:r>
              <a:rPr lang="en-US" sz="1300" b="1" dirty="0">
                <a:solidFill>
                  <a:srgbClr val="1F3A5F"/>
                </a:solidFill>
                <a:latin typeface="Arial" pitchFamily="34" charset="0"/>
                <a:ea typeface="Arial" pitchFamily="34" charset="-122"/>
                <a:cs typeface="Arial" pitchFamily="34" charset="-120"/>
              </a:rPr>
              <a:t>Consolidation</a:t>
            </a:r>
            <a:endParaRPr lang="en-US" sz="1300" dirty="0"/>
          </a:p>
        </p:txBody>
      </p:sp>
      <p:sp>
        <p:nvSpPr>
          <p:cNvPr id="13" name="Text 11"/>
          <p:cNvSpPr txBox="1"/>
          <p:nvPr/>
        </p:nvSpPr>
        <p:spPr>
          <a:xfrm>
            <a:off x="6172200" y="1783080"/>
            <a:ext cx="2377440" cy="228600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UltraTech holds about 28.5% of industry capacity, Ambuja 15.5% and Shree 9.9%. Acquisitions are the fastest route to growth, but they add integration and debt risk.</a:t>
            </a:r>
            <a:endParaRPr lang="en-US" sz="1100" dirty="0"/>
          </a:p>
        </p:txBody>
      </p:sp>
      <p:sp>
        <p:nvSpPr>
          <p:cNvPr id="14" name="Text 12"/>
          <p:cNvSpPr txBox="1"/>
          <p:nvPr/>
        </p:nvSpPr>
        <p:spPr>
          <a:xfrm>
            <a:off x="457200" y="4251960"/>
            <a:ext cx="8229600" cy="45720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Cement demand moves with GDP and construction activity (FY26 multiplier about 0.95x), so a slowdown in capex hits volumes first.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Cost structure: fuel and freight decide the margin</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FY27 is shaping up as a cost-pressure year even with steady demand.</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7</a:t>
            </a:r>
            <a:endParaRPr lang="en-US" sz="900" dirty="0"/>
          </a:p>
        </p:txBody>
      </p:sp>
      <p:graphicFrame>
        <p:nvGraphicFramePr>
          <p:cNvPr id="5" name="Chart 0"/>
          <p:cNvGraphicFramePr/>
          <p:nvPr/>
        </p:nvGraphicFramePr>
        <p:xfrm>
          <a:off x="457200" y="1097280"/>
          <a:ext cx="384048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4572000" y="1097280"/>
            <a:ext cx="4114800" cy="34747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Power and fuel are 26-28% of total cost and are expected to rise 10-12% in FY27.</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Half or more of fuel needs is imported petcoke, so crude oil and the rupee matter.</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Raw material (limestone) is largely captive for integrated players, so it is a smaller swing factor.</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Industry EBITDA margin is guided from 18-20% to 16-18%, about 200 bps lower.</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Competitive landscape: capacity, share and efficiency</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Five companies, 465 MTPA of installed capacity between them.</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8</a:t>
            </a:r>
            <a:endParaRPr lang="en-US" sz="900" dirty="0"/>
          </a:p>
        </p:txBody>
      </p:sp>
      <p:graphicFrame>
        <p:nvGraphicFramePr>
          <p:cNvPr id="5" name="Chart 0"/>
          <p:cNvGraphicFramePr/>
          <p:nvPr/>
        </p:nvGraphicFramePr>
        <p:xfrm>
          <a:off x="457200" y="1051560"/>
          <a:ext cx="4206240" cy="2697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754880" y="1051560"/>
          <a:ext cx="3931920" cy="26974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3840480"/>
            <a:ext cx="8229600" cy="91440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UltraTech has the most capacity (28.5% share) and earns the most per MTPA; JK Cement is the smallest but plans the fastest growth (+55%). Global majors have largely exited (Holcim sold Ambuja and ACC to the Adani group in 2022), so national groups lead while Shree, JK Cement and Dalmia compete from regional bases. EBITDA per MTPA divides FY26 EBITDA by the latest capacity, so recent additions make a company look less efficient than it is.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Growth: revenue and profit, FY24 to FY26</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UltraTech and Ambuja grew fastest; Shree and Dalmia were close to flat over two years.</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9</a:t>
            </a:r>
            <a:endParaRPr lang="en-US" sz="900" dirty="0"/>
          </a:p>
        </p:txBody>
      </p:sp>
      <p:graphicFrame>
        <p:nvGraphicFramePr>
          <p:cNvPr id="5" name="Chart 0"/>
          <p:cNvGraphicFramePr/>
          <p:nvPr/>
        </p:nvGraphicFramePr>
        <p:xfrm>
          <a:off x="457200" y="1051560"/>
          <a:ext cx="45720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5029200" y="1051560"/>
          <a:ext cx="36576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297680"/>
            <a:ext cx="8229600" cy="45720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Two-year revenue CAGR: UltraTech 11.7%, Ambuja 10.7%, JK Cement 9.0%, Shree 1.3%, Dalmia 0.4%.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Profitability: EBITDA and net margins</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Shree leads on EBITDA margin; Ambuja has the highest net margin, helped by one-offs.</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10</a:t>
            </a:r>
            <a:endParaRPr lang="en-US" sz="900" dirty="0"/>
          </a:p>
        </p:txBody>
      </p:sp>
      <p:graphicFrame>
        <p:nvGraphicFramePr>
          <p:cNvPr id="5" name="Chart 0"/>
          <p:cNvGraphicFramePr/>
          <p:nvPr/>
        </p:nvGraphicFramePr>
        <p:xfrm>
          <a:off x="457200" y="1051560"/>
          <a:ext cx="411480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72000" y="1051560"/>
          <a:ext cx="411480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343400"/>
            <a:ext cx="8229600" cy="45720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JK Cement's FY25 EBITDA is derived from its reported FY26 growth (flagged on slide 26). Ambuja's FY26 profit includes non-recurring items, so we normalise its net margin in the projections.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Returns and leverage: ROE and Debt/Equity</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JK Cement earns the best return but carries the most debt; Ambuja is the mirror image.</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11</a:t>
            </a:r>
            <a:endParaRPr lang="en-US" sz="900" dirty="0"/>
          </a:p>
        </p:txBody>
      </p:sp>
      <p:graphicFrame>
        <p:nvGraphicFramePr>
          <p:cNvPr id="5" name="Chart 0"/>
          <p:cNvGraphicFramePr/>
          <p:nvPr/>
        </p:nvGraphicFramePr>
        <p:xfrm>
          <a:off x="457200" y="105156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72000" y="1051560"/>
          <a:ext cx="41148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251960"/>
            <a:ext cx="8229600" cy="50292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ROE is FY26 profit over year-end owners' equity. UltraTech's debt includes leases. Ambuja's equity excludes minority interest so it matches the profit attributable to shareholders.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Valuation multiples: P/E and P/B</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Ambuja and Dalmia are the cheapest; Shree and JK Cement are the richest.</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12</a:t>
            </a:r>
            <a:endParaRPr lang="en-US" sz="900" dirty="0"/>
          </a:p>
        </p:txBody>
      </p:sp>
      <p:graphicFrame>
        <p:nvGraphicFramePr>
          <p:cNvPr id="5" name="Chart 0"/>
          <p:cNvGraphicFramePr/>
          <p:nvPr/>
        </p:nvGraphicFramePr>
        <p:xfrm>
          <a:off x="457200" y="105156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72000" y="1051560"/>
          <a:ext cx="41148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251960"/>
            <a:ext cx="8229600" cy="502920"/>
          </a:xfrm>
          <a:prstGeom prst="rect">
            <a:avLst/>
          </a:prstGeom>
          <a:noFill/>
          <a:ln/>
        </p:spPr>
        <p:txBody>
          <a:bodyPr wrap="square" lIns="0" tIns="0" rIns="0" bIns="0" rtlCol="0" anchor="t"/>
          <a:lstStyle/>
          <a:p>
            <a:pPr marL="0" indent="0">
              <a:buNone/>
            </a:pPr>
            <a:r>
              <a:rPr lang="en-US" sz="1050" dirty="0">
                <a:solidFill>
                  <a:srgbClr val="222B36"/>
                </a:solidFill>
                <a:latin typeface="Arial" pitchFamily="34" charset="0"/>
                <a:ea typeface="Arial" pitchFamily="34" charset="-122"/>
                <a:cs typeface="Arial" pitchFamily="34" charset="-120"/>
              </a:rPr>
              <a:t>P/E is market cap over FY26 PAT; P/B is market cap over year-end owners' equity. P/S ranges from 2.1x to 3.8x. Prices are from 18 September 2026.</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FY26 dashboard</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Best value in each row is green, weakest is red.</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688336"/>
        </p:xfrm>
        <a:graphic>
          <a:graphicData uri="http://schemas.openxmlformats.org/drawingml/2006/table">
            <a:tbl>
              <a:tblPr/>
              <a:tblGrid>
                <a:gridCol w="18288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tblGrid>
              <a:tr h="384048">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Metric</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UltraTech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Shree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Ambuja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JK Cement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Dalmia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FY26 revenue growth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222B36"/>
                          </a:solidFill>
                          <a:latin typeface="Arial" pitchFamily="34" charset="0"/>
                          <a:ea typeface="Arial" pitchFamily="34" charset="-122"/>
                          <a:cs typeface="Arial" pitchFamily="34" charset="-120"/>
                        </a:rPr>
                        <a:t>16.5%</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8F0E4"/>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8.6%</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15.1%</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15.5%</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5.9%</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9D9D9"/>
                    </a:solidFill>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EBITDA margin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19.2%</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222B36"/>
                          </a:solidFill>
                          <a:latin typeface="Arial" pitchFamily="34" charset="0"/>
                          <a:ea typeface="Arial" pitchFamily="34" charset="-122"/>
                          <a:cs typeface="Arial" pitchFamily="34" charset="-120"/>
                        </a:rPr>
                        <a:t>22.1%</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8F0E4"/>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15.7%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9D9D9"/>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17.3%</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20.8%</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ROE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11.6%</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7.8%</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9.0%</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222B36"/>
                          </a:solidFill>
                          <a:latin typeface="Arial" pitchFamily="34" charset="0"/>
                          <a:ea typeface="Arial" pitchFamily="34" charset="-122"/>
                          <a:cs typeface="Arial" pitchFamily="34" charset="-120"/>
                        </a:rPr>
                        <a:t>14.3%</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8F0E4"/>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6.4%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9D9D9"/>
                    </a:solidFill>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Debt / Equity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0.34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0.08</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222B36"/>
                          </a:solidFill>
                          <a:latin typeface="Arial" pitchFamily="34" charset="0"/>
                          <a:ea typeface="Arial" pitchFamily="34" charset="-122"/>
                          <a:cs typeface="Arial" pitchFamily="34" charset="-120"/>
                        </a:rPr>
                        <a:t>0.02</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8F0E4"/>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0.87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9D9D9"/>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0.41</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P/E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39.0x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45.2x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9D9D9"/>
                    </a:solidFill>
                  </a:tcPr>
                </a:tc>
                <a:tc>
                  <a:txBody>
                    <a:bodyPr/>
                    <a:lstStyle/>
                    <a:p>
                      <a:pPr marL="0" indent="0" algn="ctr">
                        <a:buNone/>
                      </a:pPr>
                      <a:r>
                        <a:rPr lang="en-US" sz="1000" b="1" dirty="0">
                          <a:solidFill>
                            <a:srgbClr val="222B36"/>
                          </a:solidFill>
                          <a:latin typeface="Arial" pitchFamily="34" charset="0"/>
                          <a:ea typeface="Arial" pitchFamily="34" charset="-122"/>
                          <a:cs typeface="Arial" pitchFamily="34" charset="-120"/>
                        </a:rPr>
                        <a:t>20.7x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8F0E4"/>
                    </a:solidFill>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39.2x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27.4x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P/B</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4.5x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3.5x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1.9x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5.6x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F9D9D9"/>
                    </a:solidFill>
                  </a:tcPr>
                </a:tc>
                <a:tc>
                  <a:txBody>
                    <a:bodyPr/>
                    <a:lstStyle/>
                    <a:p>
                      <a:pPr marL="0" indent="0" algn="ctr">
                        <a:buNone/>
                      </a:pPr>
                      <a:r>
                        <a:rPr lang="en-US" sz="1000" b="1" dirty="0">
                          <a:solidFill>
                            <a:srgbClr val="222B36"/>
                          </a:solidFill>
                          <a:latin typeface="Arial" pitchFamily="34" charset="0"/>
                          <a:ea typeface="Arial" pitchFamily="34" charset="-122"/>
                          <a:cs typeface="Arial" pitchFamily="34" charset="-120"/>
                        </a:rPr>
                        <a:t>1.8x</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D8F0E4"/>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457200" y="4251960"/>
            <a:ext cx="8229600" cy="548640"/>
          </a:xfrm>
          <a:prstGeom prst="rect">
            <a:avLst/>
          </a:prstGeom>
          <a:noFill/>
          <a:ln/>
        </p:spPr>
        <p:txBody>
          <a:bodyPr wrap="square" lIns="0" tIns="0" rIns="0" bIns="0" rtlCol="0" anchor="t"/>
          <a:lstStyle/>
          <a:p>
            <a:pPr marL="0" indent="0">
              <a:buNone/>
            </a:pPr>
            <a:r>
              <a:rPr lang="en-US" sz="1100" dirty="0">
                <a:solidFill>
                  <a:srgbClr val="222B36"/>
                </a:solidFill>
                <a:latin typeface="Arial" pitchFamily="34" charset="0"/>
                <a:ea typeface="Arial" pitchFamily="34" charset="-122"/>
                <a:cs typeface="Arial" pitchFamily="34" charset="-120"/>
              </a:rPr>
              <a:t>Read across: UltraTech grows fastest, Shree earns the highest margin, JK Cement the best ROE, and Ambuja and Dalmia are the cheapest.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Investment scorecard</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Six metrics ranked across the five companies and weighted: growth 20%, margin 20%, ROE 15%, debt 15%, P/E 20%, P/B 10%.</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14</a:t>
            </a:r>
            <a:endParaRPr lang="en-US" sz="900" dirty="0"/>
          </a:p>
        </p:txBody>
      </p:sp>
      <p:graphicFrame>
        <p:nvGraphicFramePr>
          <p:cNvPr id="5" name="Chart 0"/>
          <p:cNvGraphicFramePr/>
          <p:nvPr/>
        </p:nvGraphicFramePr>
        <p:xfrm>
          <a:off x="457200" y="1188720"/>
          <a:ext cx="438912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029200" y="1188720"/>
            <a:ext cx="3657600" cy="301752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Base case leader: Ambuja (3.60).</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Growth-tilted: Ambuja. Quality-tilted: UltraTech. Valuation-tilted: Ambuja.</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JK Cement is last in every weighting scheme, so that result is robust.</a:t>
            </a:r>
            <a:endParaRPr lang="en-US" sz="1150" dirty="0"/>
          </a:p>
          <a:p>
            <a:pPr marL="342900" indent="-342900">
              <a:spcAft>
                <a:spcPts val="800"/>
              </a:spcAft>
              <a:buSzPct val="100000"/>
              <a:buChar char="•"/>
            </a:pPr>
            <a:r>
              <a:rPr lang="en-US" sz="1150" dirty="0">
                <a:solidFill>
                  <a:srgbClr val="222B36"/>
                </a:solidFill>
                <a:latin typeface="Arial" pitchFamily="34" charset="0"/>
                <a:ea typeface="Arial" pitchFamily="34" charset="-122"/>
                <a:cs typeface="Arial" pitchFamily="34" charset="-120"/>
              </a:rPr>
              <a:t>Dalmia reaches #2 only when valuation carries the most weight.</a:t>
            </a:r>
            <a:endParaRPr lang="en-US" sz="1150" dirty="0"/>
          </a:p>
        </p:txBody>
      </p:sp>
      <p:sp>
        <p:nvSpPr>
          <p:cNvPr id="7" name="Text 4"/>
          <p:cNvSpPr txBox="1"/>
          <p:nvPr/>
        </p:nvSpPr>
        <p:spPr>
          <a:xfrm>
            <a:off x="457200" y="4343400"/>
            <a:ext cx="8229600" cy="411480"/>
          </a:xfrm>
          <a:prstGeom prst="rect">
            <a:avLst/>
          </a:prstGeom>
          <a:noFill/>
          <a:ln/>
        </p:spPr>
        <p:txBody>
          <a:bodyPr wrap="square" lIns="0" tIns="0" rIns="0" bIns="0" rtlCol="0" anchor="t"/>
          <a:lstStyle/>
          <a:p>
            <a:pPr marL="0" indent="0">
              <a:buNone/>
            </a:pPr>
            <a:r>
              <a:rPr lang="en-US" sz="1050" dirty="0">
                <a:solidFill>
                  <a:srgbClr val="222B36"/>
                </a:solidFill>
                <a:latin typeface="Arial" pitchFamily="34" charset="0"/>
                <a:ea typeface="Arial" pitchFamily="34" charset="-122"/>
                <a:cs typeface="Arial" pitchFamily="34" charset="-120"/>
              </a:rPr>
              <a:t>The scorecard is a screen. The final rating also uses forward valuation, relative valuation, quality and risk (slide 19).</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Should Ambuja and Dalmia converge to the peer median?</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Only partly. A discount closes only if fundamentals support it, so we test four things.</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15</a:t>
            </a:r>
            <a:endParaRPr lang="en-US" sz="900" dirty="0"/>
          </a:p>
        </p:txBody>
      </p:sp>
      <p:graphicFrame>
        <p:nvGraphicFramePr>
          <p:cNvPr id="5" name="Chart 0"/>
          <p:cNvGraphicFramePr/>
          <p:nvPr/>
        </p:nvGraphicFramePr>
        <p:xfrm>
          <a:off x="457200" y="1051560"/>
          <a:ext cx="475488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394960" y="1097280"/>
          <a:ext cx="3291840" cy="2005584"/>
        </p:xfrm>
        <a:graphic>
          <a:graphicData uri="http://schemas.openxmlformats.org/drawingml/2006/table">
            <a:tbl>
              <a:tblPr/>
              <a:tblGrid>
                <a:gridCol w="10972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29184">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Company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Tests passed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Gap assumed to close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2918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UltraTech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4 of 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 of premium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Shree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 of 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50% of premium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Ambuja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 of 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50% of discount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JK Cement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 of 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25% of premium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Dalmia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2 of 4</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50% of discount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3"/>
          <p:cNvSpPr txBox="1"/>
          <p:nvPr/>
        </p:nvSpPr>
        <p:spPr>
          <a:xfrm>
            <a:off x="5394960" y="3200400"/>
            <a:ext cx="3291840" cy="1188720"/>
          </a:xfrm>
          <a:prstGeom prst="rect">
            <a:avLst/>
          </a:prstGeom>
          <a:noFill/>
          <a:ln/>
        </p:spPr>
        <p:txBody>
          <a:bodyPr wrap="square" lIns="0" tIns="0" rIns="0" bIns="0" rtlCol="0" anchor="t"/>
          <a:lstStyle/>
          <a:p>
            <a:pPr marL="0" indent="0">
              <a:buNone/>
            </a:pPr>
            <a:r>
              <a:rPr lang="en-US" sz="950" dirty="0">
                <a:solidFill>
                  <a:srgbClr val="222B36"/>
                </a:solidFill>
                <a:latin typeface="Arial" pitchFamily="34" charset="0"/>
                <a:ea typeface="Arial" pitchFamily="34" charset="-122"/>
                <a:cs typeface="Arial" pitchFamily="34" charset="-120"/>
              </a:rPr>
              <a:t>Tests: ROE, EBITDA margin and two-year growth at or above the peer median, and profit conversion (PAT/EBITDA) within 25% of the median. Ambuja fails the margin and earnings-quality tests, so only half its discount closes.</a:t>
            </a:r>
            <a:endParaRPr lang="en-US" sz="950" dirty="0"/>
          </a:p>
        </p:txBody>
      </p:sp>
      <p:sp>
        <p:nvSpPr>
          <p:cNvPr id="8" name="Text 4"/>
          <p:cNvSpPr txBox="1"/>
          <p:nvPr/>
        </p:nvSpPr>
        <p:spPr>
          <a:xfrm>
            <a:off x="457200" y="4343400"/>
            <a:ext cx="8229600" cy="411480"/>
          </a:xfrm>
          <a:prstGeom prst="rect">
            <a:avLst/>
          </a:prstGeom>
          <a:noFill/>
          <a:ln/>
        </p:spPr>
        <p:txBody>
          <a:bodyPr wrap="square" lIns="0" tIns="0" rIns="0" bIns="0" rtlCol="0" anchor="t"/>
          <a:lstStyle/>
          <a:p>
            <a:pPr marL="0" indent="0">
              <a:buNone/>
            </a:pPr>
            <a:r>
              <a:rPr lang="en-US" sz="1050" dirty="0">
                <a:solidFill>
                  <a:srgbClr val="222B36"/>
                </a:solidFill>
                <a:latin typeface="Arial" pitchFamily="34" charset="0"/>
                <a:ea typeface="Arial" pitchFamily="34" charset="-122"/>
                <a:cs typeface="Arial" pitchFamily="34" charset="-120"/>
              </a:rPr>
              <a:t>With no convergence Ambuja's upside is +3.8%; full convergence gives +95.8%. The rule sits in between at +49.8%.</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Valuation outcome: three ways to read the upside</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FY28E EPS times a P/E that either stays put, converges by rule, or converges fully.</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16</a:t>
            </a:r>
            <a:endParaRPr lang="en-US" sz="900" dirty="0"/>
          </a:p>
        </p:txBody>
      </p:sp>
      <p:graphicFrame>
        <p:nvGraphicFramePr>
          <p:cNvPr id="5" name="Chart 0"/>
          <p:cNvGraphicFramePr/>
          <p:nvPr/>
        </p:nvGraphicFramePr>
        <p:xfrm>
          <a:off x="457200" y="1051560"/>
          <a:ext cx="54864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1097280"/>
            <a:ext cx="2560320" cy="960120"/>
          </a:xfrm>
          <a:prstGeom prst="roundRect">
            <a:avLst>
              <a:gd name="adj" fmla="val 7619"/>
            </a:avLst>
          </a:prstGeom>
          <a:solidFill>
            <a:srgbClr val="F1F4F8"/>
          </a:solidFill>
          <a:ln w="12700">
            <a:solidFill>
              <a:srgbClr val="F1F4F8"/>
            </a:solidFill>
            <a:prstDash val="solid"/>
          </a:ln>
        </p:spPr>
      </p:sp>
      <p:sp>
        <p:nvSpPr>
          <p:cNvPr id="7" name="Text 4"/>
          <p:cNvSpPr txBox="1"/>
          <p:nvPr/>
        </p:nvSpPr>
        <p:spPr>
          <a:xfrm>
            <a:off x="6217920" y="1170432"/>
            <a:ext cx="2377440" cy="48006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+49.8%</a:t>
            </a:r>
            <a:endParaRPr lang="en-US" sz="2200" dirty="0"/>
          </a:p>
        </p:txBody>
      </p:sp>
      <p:sp>
        <p:nvSpPr>
          <p:cNvPr id="8" name="Text 5"/>
          <p:cNvSpPr txBox="1"/>
          <p:nvPr/>
        </p:nvSpPr>
        <p:spPr>
          <a:xfrm>
            <a:off x="6217920" y="1625346"/>
            <a:ext cx="2377440" cy="384048"/>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Ambuja base case; full convergence would show +95.8%</a:t>
            </a:r>
            <a:endParaRPr lang="en-US" sz="950" dirty="0"/>
          </a:p>
        </p:txBody>
      </p:sp>
      <p:sp>
        <p:nvSpPr>
          <p:cNvPr id="9" name="Shape 6"/>
          <p:cNvSpPr/>
          <p:nvPr/>
        </p:nvSpPr>
        <p:spPr>
          <a:xfrm>
            <a:off x="6126480" y="2148840"/>
            <a:ext cx="2560320" cy="960120"/>
          </a:xfrm>
          <a:prstGeom prst="roundRect">
            <a:avLst>
              <a:gd name="adj" fmla="val 7619"/>
            </a:avLst>
          </a:prstGeom>
          <a:solidFill>
            <a:srgbClr val="F1F4F8"/>
          </a:solidFill>
          <a:ln w="12700">
            <a:solidFill>
              <a:srgbClr val="F1F4F8"/>
            </a:solidFill>
            <a:prstDash val="solid"/>
          </a:ln>
        </p:spPr>
      </p:sp>
      <p:sp>
        <p:nvSpPr>
          <p:cNvPr id="10" name="Text 7"/>
          <p:cNvSpPr txBox="1"/>
          <p:nvPr/>
        </p:nvSpPr>
        <p:spPr>
          <a:xfrm>
            <a:off x="6217920" y="2221992"/>
            <a:ext cx="2377440" cy="48006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+33.4%</a:t>
            </a:r>
            <a:endParaRPr lang="en-US" sz="2200" dirty="0"/>
          </a:p>
        </p:txBody>
      </p:sp>
      <p:sp>
        <p:nvSpPr>
          <p:cNvPr id="11" name="Text 8"/>
          <p:cNvSpPr txBox="1"/>
          <p:nvPr/>
        </p:nvSpPr>
        <p:spPr>
          <a:xfrm>
            <a:off x="6217920" y="2676906"/>
            <a:ext cx="2377440" cy="384048"/>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Dalmia base case; full convergence would show +56.9%</a:t>
            </a:r>
            <a:endParaRPr lang="en-US" sz="950" dirty="0"/>
          </a:p>
        </p:txBody>
      </p:sp>
      <p:sp>
        <p:nvSpPr>
          <p:cNvPr id="12" name="Shape 9"/>
          <p:cNvSpPr/>
          <p:nvPr/>
        </p:nvSpPr>
        <p:spPr>
          <a:xfrm>
            <a:off x="6126480" y="3200400"/>
            <a:ext cx="2560320" cy="960120"/>
          </a:xfrm>
          <a:prstGeom prst="roundRect">
            <a:avLst>
              <a:gd name="adj" fmla="val 7619"/>
            </a:avLst>
          </a:prstGeom>
          <a:solidFill>
            <a:srgbClr val="F1F4F8"/>
          </a:solidFill>
          <a:ln w="12700">
            <a:solidFill>
              <a:srgbClr val="F1F4F8"/>
            </a:solidFill>
            <a:prstDash val="solid"/>
          </a:ln>
        </p:spPr>
      </p:sp>
      <p:sp>
        <p:nvSpPr>
          <p:cNvPr id="13" name="Text 10"/>
          <p:cNvSpPr txBox="1"/>
          <p:nvPr/>
        </p:nvSpPr>
        <p:spPr>
          <a:xfrm>
            <a:off x="6217920" y="3273552"/>
            <a:ext cx="2377440" cy="48006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+18.9%</a:t>
            </a:r>
            <a:endParaRPr lang="en-US" sz="2200" dirty="0"/>
          </a:p>
        </p:txBody>
      </p:sp>
      <p:sp>
        <p:nvSpPr>
          <p:cNvPr id="14" name="Text 11"/>
          <p:cNvSpPr txBox="1"/>
          <p:nvPr/>
        </p:nvSpPr>
        <p:spPr>
          <a:xfrm>
            <a:off x="6217920" y="3728466"/>
            <a:ext cx="2377440" cy="384048"/>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UltraTech base case: earnings growth only, multiple held</a:t>
            </a:r>
            <a:endParaRPr lang="en-US" sz="950" dirty="0"/>
          </a:p>
        </p:txBody>
      </p:sp>
      <p:sp>
        <p:nvSpPr>
          <p:cNvPr id="15" name="Text 12"/>
          <p:cNvSpPr txBox="1"/>
          <p:nvPr/>
        </p:nvSpPr>
        <p:spPr>
          <a:xfrm>
            <a:off x="457200" y="4434840"/>
            <a:ext cx="8229600" cy="365760"/>
          </a:xfrm>
          <a:prstGeom prst="rect">
            <a:avLst/>
          </a:prstGeom>
          <a:noFill/>
          <a:ln/>
        </p:spPr>
        <p:txBody>
          <a:bodyPr wrap="square" lIns="0" tIns="0" rIns="0" bIns="0" rtlCol="0" anchor="t"/>
          <a:lstStyle/>
          <a:p>
            <a:pPr marL="0" indent="0">
              <a:buNone/>
            </a:pPr>
            <a:r>
              <a:rPr lang="en-US" sz="1050" dirty="0">
                <a:solidFill>
                  <a:srgbClr val="222B36"/>
                </a:solidFill>
                <a:latin typeface="Arial" pitchFamily="34" charset="0"/>
                <a:ea typeface="Arial" pitchFamily="34" charset="-122"/>
                <a:cs typeface="Arial" pitchFamily="34" charset="-120"/>
              </a:rPr>
              <a:t>Treat Ambuja's number as a ceiling: its FY26 profit includes one-offs and its FY27E EPS dips before recovering.</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Projections: FY26 actual to FY28 estimates</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Assumptions follow the sector outlook: volumes up 6-7%, margins down in FY27, partial recovery in FY28.</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17</a:t>
            </a:r>
            <a:endParaRPr lang="en-US" sz="900" dirty="0"/>
          </a:p>
        </p:txBody>
      </p:sp>
      <p:graphicFrame>
        <p:nvGraphicFramePr>
          <p:cNvPr id="5" name="Chart 0"/>
          <p:cNvGraphicFramePr/>
          <p:nvPr/>
        </p:nvGraphicFramePr>
        <p:xfrm>
          <a:off x="457200" y="1051560"/>
          <a:ext cx="411480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4572000" y="1051560"/>
          <a:ext cx="411480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txBox="1"/>
          <p:nvPr/>
        </p:nvSpPr>
        <p:spPr>
          <a:xfrm>
            <a:off x="457200" y="4251960"/>
            <a:ext cx="8229600" cy="502920"/>
          </a:xfrm>
          <a:prstGeom prst="rect">
            <a:avLst/>
          </a:prstGeom>
          <a:noFill/>
          <a:ln/>
        </p:spPr>
        <p:txBody>
          <a:bodyPr wrap="square" lIns="0" tIns="0" rIns="0" bIns="0" rtlCol="0" anchor="t"/>
          <a:lstStyle/>
          <a:p>
            <a:pPr marL="0" indent="0">
              <a:buNone/>
            </a:pPr>
            <a:r>
              <a:rPr lang="en-US" sz="1050" dirty="0">
                <a:solidFill>
                  <a:srgbClr val="222B36"/>
                </a:solidFill>
                <a:latin typeface="Arial" pitchFamily="34" charset="0"/>
                <a:ea typeface="Arial" pitchFamily="34" charset="-122"/>
                <a:cs typeface="Arial" pitchFamily="34" charset="-120"/>
              </a:rPr>
              <a:t>FY27E EPS growth: UltraTech +3.2%, Shree +0.1%, Ambuja -8.5%, JK Cement +2.2%, Dalmia -2.4%. Growth is muted because fuel and freight costs squeeze margins.</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Risk assessment</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Composite of four risks scored 1 (low) to 5 (high); the balance-sheet score comes from Debt/Equity.</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18</a:t>
            </a:r>
            <a:endParaRPr lang="en-US" sz="900" dirty="0"/>
          </a:p>
        </p:txBody>
      </p:sp>
      <p:graphicFrame>
        <p:nvGraphicFramePr>
          <p:cNvPr id="5" name="Chart 0"/>
          <p:cNvGraphicFramePr/>
          <p:nvPr/>
        </p:nvGraphicFramePr>
        <p:xfrm>
          <a:off x="457200" y="1051560"/>
          <a:ext cx="4206240" cy="32004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2743200"/>
        </p:xfrm>
        <a:graphic>
          <a:graphicData uri="http://schemas.openxmlformats.org/drawingml/2006/table">
            <a:tbl>
              <a:tblPr/>
              <a:tblGrid>
                <a:gridCol w="10972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457200">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Company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Main concern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UltraTech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Pan-India spread; largest fuel buyer</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Shree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North-led, strong utilisation; slow growth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Ambuja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Integration of acquisitions; no debt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JK Cement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Highest debt; mid-size scale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Dalmia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South/East overhang; modest debt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3"/>
          <p:cNvSpPr txBox="1"/>
          <p:nvPr/>
        </p:nvSpPr>
        <p:spPr>
          <a:xfrm>
            <a:off x="457200" y="4343400"/>
            <a:ext cx="8229600" cy="457200"/>
          </a:xfrm>
          <a:prstGeom prst="rect">
            <a:avLst/>
          </a:prstGeom>
          <a:noFill/>
          <a:ln/>
        </p:spPr>
        <p:txBody>
          <a:bodyPr wrap="square" lIns="0" tIns="0" rIns="0" bIns="0" rtlCol="0" anchor="t"/>
          <a:lstStyle/>
          <a:p>
            <a:pPr marL="0" indent="0">
              <a:buNone/>
            </a:pPr>
            <a:r>
              <a:rPr lang="en-US" sz="1000" dirty="0">
                <a:solidFill>
                  <a:srgbClr val="222B36"/>
                </a:solidFill>
                <a:latin typeface="Arial" pitchFamily="34" charset="0"/>
                <a:ea typeface="Arial" pitchFamily="34" charset="-122"/>
                <a:cs typeface="Arial" pitchFamily="34" charset="-120"/>
              </a:rPr>
              <a:t>Sector-wide: fuel and freight inflation, rupee weakness, emission and limestone-mining compliance, and slower government capex. Scores are analyst judgement except the balance-sheet score.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How the rating is decided</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Five votes of +1, 0 or -1. Three net votes or more is overweight, minus three or less is underweight.</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19</a:t>
            </a:r>
            <a:endParaRPr lang="en-US" sz="900" dirty="0"/>
          </a:p>
        </p:txBody>
      </p:sp>
      <p:sp>
        <p:nvSpPr>
          <p:cNvPr id="5" name="Text 3"/>
          <p:cNvSpPr txBox="1"/>
          <p:nvPr/>
        </p:nvSpPr>
        <p:spPr>
          <a:xfrm>
            <a:off x="457200" y="1097280"/>
            <a:ext cx="4206240" cy="32918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222B36"/>
                </a:solidFill>
                <a:latin typeface="Arial" pitchFamily="34" charset="0"/>
                <a:ea typeface="Arial" pitchFamily="34" charset="-122"/>
                <a:cs typeface="Arial" pitchFamily="34" charset="-120"/>
              </a:rPr>
              <a:t>Screen: +1 if ranked 2 or better on the scorecard, -1 if 4 or worse (top and bottom two of five).</a:t>
            </a:r>
            <a:endParaRPr lang="en-US" sz="1050" dirty="0"/>
          </a:p>
          <a:p>
            <a:pPr marL="342900" indent="-342900">
              <a:spcAft>
                <a:spcPts val="600"/>
              </a:spcAft>
              <a:buSzPct val="100000"/>
              <a:buChar char="•"/>
            </a:pPr>
            <a:r>
              <a:rPr lang="en-US" sz="1050" dirty="0">
                <a:solidFill>
                  <a:srgbClr val="222B36"/>
                </a:solidFill>
                <a:latin typeface="Arial" pitchFamily="34" charset="0"/>
                <a:ea typeface="Arial" pitchFamily="34" charset="-122"/>
                <a:cs typeface="Arial" pitchFamily="34" charset="-120"/>
              </a:rPr>
              <a:t>Forward value: +1 if base-case upside is 15.0% or more (roughly cost of equity plus a margin of safety), -1 below 5.0%.</a:t>
            </a:r>
            <a:endParaRPr lang="en-US" sz="1050" dirty="0"/>
          </a:p>
          <a:p>
            <a:pPr marL="342900" indent="-342900">
              <a:spcAft>
                <a:spcPts val="600"/>
              </a:spcAft>
              <a:buSzPct val="100000"/>
              <a:buChar char="•"/>
            </a:pPr>
            <a:r>
              <a:rPr lang="en-US" sz="1050" dirty="0">
                <a:solidFill>
                  <a:srgbClr val="222B36"/>
                </a:solidFill>
                <a:latin typeface="Arial" pitchFamily="34" charset="0"/>
                <a:ea typeface="Arial" pitchFamily="34" charset="-122"/>
                <a:cs typeface="Arial" pitchFamily="34" charset="-120"/>
              </a:rPr>
              <a:t>Relative value: +1 if convergence-adjusted CCA upside is 15.0% or more; -1 at -15.0% or lower.</a:t>
            </a:r>
            <a:endParaRPr lang="en-US" sz="1050" dirty="0"/>
          </a:p>
          <a:p>
            <a:pPr marL="342900" indent="-342900">
              <a:spcAft>
                <a:spcPts val="600"/>
              </a:spcAft>
              <a:buSzPct val="100000"/>
              <a:buChar char="•"/>
            </a:pPr>
            <a:r>
              <a:rPr lang="en-US" sz="1050" dirty="0">
                <a:solidFill>
                  <a:srgbClr val="222B36"/>
                </a:solidFill>
                <a:latin typeface="Arial" pitchFamily="34" charset="0"/>
                <a:ea typeface="Arial" pitchFamily="34" charset="-122"/>
                <a:cs typeface="Arial" pitchFamily="34" charset="-120"/>
              </a:rPr>
              <a:t>Quality: qualitative score of 4 or more earns +1, below 3 earns -1.</a:t>
            </a:r>
            <a:endParaRPr lang="en-US" sz="1050" dirty="0"/>
          </a:p>
          <a:p>
            <a:pPr marL="342900" indent="-342900">
              <a:spcAft>
                <a:spcPts val="600"/>
              </a:spcAft>
              <a:buSzPct val="100000"/>
              <a:buChar char="•"/>
            </a:pPr>
            <a:r>
              <a:rPr lang="en-US" sz="1050" dirty="0">
                <a:solidFill>
                  <a:srgbClr val="222B36"/>
                </a:solidFill>
                <a:latin typeface="Arial" pitchFamily="34" charset="0"/>
                <a:ea typeface="Arial" pitchFamily="34" charset="-122"/>
                <a:cs typeface="Arial" pitchFamily="34" charset="-120"/>
              </a:rPr>
              <a:t>Risk: composite risk of 2.0 or less earns +1, 3.0 or more earns -1 (3 is the scale midpoint).</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846320" y="1097280"/>
          <a:ext cx="3840480" cy="2304288"/>
        </p:xfrm>
        <a:graphic>
          <a:graphicData uri="http://schemas.openxmlformats.org/drawingml/2006/table">
            <a:tbl>
              <a:tblPr/>
              <a:tblGrid>
                <a:gridCol w="10972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384048">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Company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Votes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Rating</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Holds in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UltraTech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1B7F5A"/>
                          </a:solidFill>
                          <a:latin typeface="Arial" pitchFamily="34" charset="0"/>
                          <a:ea typeface="Arial" pitchFamily="34" charset="-122"/>
                          <a:cs typeface="Arial" pitchFamily="34" charset="-120"/>
                        </a:rPr>
                        <a:t>OVERWEIGHT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 of 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Shree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5B6675"/>
                          </a:solidFill>
                          <a:latin typeface="Arial" pitchFamily="34" charset="0"/>
                          <a:ea typeface="Arial" pitchFamily="34" charset="-122"/>
                          <a:cs typeface="Arial" pitchFamily="34" charset="-120"/>
                        </a:rPr>
                        <a:t>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7 of 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Ambuja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1B7F5A"/>
                          </a:solidFill>
                          <a:latin typeface="Arial" pitchFamily="34" charset="0"/>
                          <a:ea typeface="Arial" pitchFamily="34" charset="-122"/>
                          <a:cs typeface="Arial" pitchFamily="34" charset="-120"/>
                        </a:rPr>
                        <a:t>OVERWEIGHT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3 of 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JK Cement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-1</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5B6675"/>
                          </a:solidFill>
                          <a:latin typeface="Arial" pitchFamily="34" charset="0"/>
                          <a:ea typeface="Arial" pitchFamily="34" charset="-122"/>
                          <a:cs typeface="Arial" pitchFamily="34" charset="-120"/>
                        </a:rPr>
                        <a:t>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7 of 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Dalmia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0</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5B6675"/>
                          </a:solidFill>
                          <a:latin typeface="Arial" pitchFamily="34" charset="0"/>
                          <a:ea typeface="Arial" pitchFamily="34" charset="-122"/>
                          <a:cs typeface="Arial" pitchFamily="34" charset="-120"/>
                        </a:rPr>
                        <a:t>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7 of 7</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txBox="1"/>
          <p:nvPr/>
        </p:nvSpPr>
        <p:spPr>
          <a:xfrm>
            <a:off x="4846320" y="3474720"/>
            <a:ext cx="3840480" cy="1005840"/>
          </a:xfrm>
          <a:prstGeom prst="rect">
            <a:avLst/>
          </a:prstGeom>
          <a:noFill/>
          <a:ln/>
        </p:spPr>
        <p:txBody>
          <a:bodyPr wrap="square" lIns="0" tIns="0" rIns="0" bIns="0" rtlCol="0" anchor="t"/>
          <a:lstStyle/>
          <a:p>
            <a:pPr marL="0" indent="0">
              <a:buNone/>
            </a:pPr>
            <a:r>
              <a:rPr lang="en-US" sz="1000" dirty="0" smtClean="0">
                <a:solidFill>
                  <a:srgbClr val="222B36"/>
                </a:solidFill>
                <a:latin typeface="Arial" pitchFamily="34" charset="0"/>
                <a:ea typeface="Arial" pitchFamily="34" charset="-122"/>
                <a:cs typeface="Arial" pitchFamily="34" charset="-120"/>
              </a:rPr>
              <a:t>.</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UltraTech: OVERWEIGHT</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A quality compounder priced for it. We hold the P/E at today's level, so the upside comes from earnings growth alone (FY26-28E EPS +18.9%).</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20</a:t>
            </a:r>
            <a:endParaRPr lang="en-US" sz="900" dirty="0"/>
          </a:p>
        </p:txBody>
      </p:sp>
      <p:sp>
        <p:nvSpPr>
          <p:cNvPr id="5" name="Shape 3"/>
          <p:cNvSpPr/>
          <p:nvPr/>
        </p:nvSpPr>
        <p:spPr>
          <a:xfrm>
            <a:off x="457200" y="1234440"/>
            <a:ext cx="1965960" cy="1051560"/>
          </a:xfrm>
          <a:prstGeom prst="roundRect">
            <a:avLst>
              <a:gd name="adj" fmla="val 6957"/>
            </a:avLst>
          </a:prstGeom>
          <a:solidFill>
            <a:srgbClr val="F1F4F8"/>
          </a:solidFill>
          <a:ln w="12700">
            <a:solidFill>
              <a:srgbClr val="F1F4F8"/>
            </a:solidFill>
            <a:prstDash val="solid"/>
          </a:ln>
        </p:spPr>
      </p:sp>
      <p:sp>
        <p:nvSpPr>
          <p:cNvPr id="6" name="Text 4"/>
          <p:cNvSpPr txBox="1"/>
          <p:nvPr/>
        </p:nvSpPr>
        <p:spPr>
          <a:xfrm>
            <a:off x="5486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39.0x</a:t>
            </a:r>
            <a:endParaRPr lang="en-US" sz="2200" dirty="0"/>
          </a:p>
        </p:txBody>
      </p:sp>
      <p:sp>
        <p:nvSpPr>
          <p:cNvPr id="7" name="Text 5"/>
          <p:cNvSpPr txBox="1"/>
          <p:nvPr/>
        </p:nvSpPr>
        <p:spPr>
          <a:xfrm>
            <a:off x="5486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P/E vs peer median 33.3x</a:t>
            </a:r>
            <a:endParaRPr lang="en-US" sz="950" dirty="0"/>
          </a:p>
        </p:txBody>
      </p:sp>
      <p:sp>
        <p:nvSpPr>
          <p:cNvPr id="8" name="Shape 6"/>
          <p:cNvSpPr/>
          <p:nvPr/>
        </p:nvSpPr>
        <p:spPr>
          <a:xfrm>
            <a:off x="2514600" y="1234440"/>
            <a:ext cx="1965960" cy="1051560"/>
          </a:xfrm>
          <a:prstGeom prst="roundRect">
            <a:avLst>
              <a:gd name="adj" fmla="val 6957"/>
            </a:avLst>
          </a:prstGeom>
          <a:solidFill>
            <a:srgbClr val="F1F4F8"/>
          </a:solidFill>
          <a:ln w="12700">
            <a:solidFill>
              <a:srgbClr val="F1F4F8"/>
            </a:solidFill>
            <a:prstDash val="solid"/>
          </a:ln>
        </p:spPr>
      </p:sp>
      <p:sp>
        <p:nvSpPr>
          <p:cNvPr id="9" name="Text 7"/>
          <p:cNvSpPr txBox="1"/>
          <p:nvPr/>
        </p:nvSpPr>
        <p:spPr>
          <a:xfrm>
            <a:off x="26060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+18.9%</a:t>
            </a:r>
            <a:endParaRPr lang="en-US" sz="2200" dirty="0"/>
          </a:p>
        </p:txBody>
      </p:sp>
      <p:sp>
        <p:nvSpPr>
          <p:cNvPr id="10" name="Text 8"/>
          <p:cNvSpPr txBox="1"/>
          <p:nvPr/>
        </p:nvSpPr>
        <p:spPr>
          <a:xfrm>
            <a:off x="26060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Base-case upside, convergence-adjusted</a:t>
            </a:r>
            <a:endParaRPr lang="en-US" sz="950" dirty="0"/>
          </a:p>
        </p:txBody>
      </p:sp>
      <p:sp>
        <p:nvSpPr>
          <p:cNvPr id="11" name="Shape 9"/>
          <p:cNvSpPr/>
          <p:nvPr/>
        </p:nvSpPr>
        <p:spPr>
          <a:xfrm>
            <a:off x="457200" y="2377440"/>
            <a:ext cx="1965960" cy="1051560"/>
          </a:xfrm>
          <a:prstGeom prst="roundRect">
            <a:avLst>
              <a:gd name="adj" fmla="val 6957"/>
            </a:avLst>
          </a:prstGeom>
          <a:solidFill>
            <a:srgbClr val="F1F4F8"/>
          </a:solidFill>
          <a:ln w="12700">
            <a:solidFill>
              <a:srgbClr val="F1F4F8"/>
            </a:solidFill>
            <a:prstDash val="solid"/>
          </a:ln>
        </p:spPr>
      </p:sp>
      <p:sp>
        <p:nvSpPr>
          <p:cNvPr id="12" name="Text 10"/>
          <p:cNvSpPr txBox="1"/>
          <p:nvPr/>
        </p:nvSpPr>
        <p:spPr>
          <a:xfrm>
            <a:off x="5486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11.7%</a:t>
            </a:r>
            <a:endParaRPr lang="en-US" sz="2200" dirty="0"/>
          </a:p>
        </p:txBody>
      </p:sp>
      <p:sp>
        <p:nvSpPr>
          <p:cNvPr id="13" name="Text 11"/>
          <p:cNvSpPr txBox="1"/>
          <p:nvPr/>
        </p:nvSpPr>
        <p:spPr>
          <a:xfrm>
            <a:off x="5486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Two-year revenue CAGR</a:t>
            </a:r>
            <a:endParaRPr lang="en-US" sz="950" dirty="0"/>
          </a:p>
        </p:txBody>
      </p:sp>
      <p:sp>
        <p:nvSpPr>
          <p:cNvPr id="14" name="Shape 12"/>
          <p:cNvSpPr/>
          <p:nvPr/>
        </p:nvSpPr>
        <p:spPr>
          <a:xfrm>
            <a:off x="2514600" y="2377440"/>
            <a:ext cx="1965960" cy="1051560"/>
          </a:xfrm>
          <a:prstGeom prst="roundRect">
            <a:avLst>
              <a:gd name="adj" fmla="val 6957"/>
            </a:avLst>
          </a:prstGeom>
          <a:solidFill>
            <a:srgbClr val="F1F4F8"/>
          </a:solidFill>
          <a:ln w="12700">
            <a:solidFill>
              <a:srgbClr val="F1F4F8"/>
            </a:solidFill>
            <a:prstDash val="solid"/>
          </a:ln>
        </p:spPr>
      </p:sp>
      <p:sp>
        <p:nvSpPr>
          <p:cNvPr id="15" name="Text 13"/>
          <p:cNvSpPr txBox="1"/>
          <p:nvPr/>
        </p:nvSpPr>
        <p:spPr>
          <a:xfrm>
            <a:off x="26060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19.2%</a:t>
            </a:r>
            <a:endParaRPr lang="en-US" sz="2200" dirty="0"/>
          </a:p>
        </p:txBody>
      </p:sp>
      <p:sp>
        <p:nvSpPr>
          <p:cNvPr id="16" name="Text 14"/>
          <p:cNvSpPr txBox="1"/>
          <p:nvPr/>
        </p:nvSpPr>
        <p:spPr>
          <a:xfrm>
            <a:off x="26060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EBITDA margin; ROE 11.6%</a:t>
            </a:r>
            <a:endParaRPr lang="en-US" sz="950" dirty="0"/>
          </a:p>
        </p:txBody>
      </p:sp>
      <p:sp>
        <p:nvSpPr>
          <p:cNvPr id="17" name="Shape 15"/>
          <p:cNvSpPr/>
          <p:nvPr/>
        </p:nvSpPr>
        <p:spPr>
          <a:xfrm>
            <a:off x="457200" y="3520440"/>
            <a:ext cx="1965960" cy="1051560"/>
          </a:xfrm>
          <a:prstGeom prst="roundRect">
            <a:avLst>
              <a:gd name="adj" fmla="val 6957"/>
            </a:avLst>
          </a:prstGeom>
          <a:solidFill>
            <a:srgbClr val="F1F4F8"/>
          </a:solidFill>
          <a:ln w="12700">
            <a:solidFill>
              <a:srgbClr val="F1F4F8"/>
            </a:solidFill>
            <a:prstDash val="solid"/>
          </a:ln>
        </p:spPr>
      </p:sp>
      <p:sp>
        <p:nvSpPr>
          <p:cNvPr id="18" name="Text 16"/>
          <p:cNvSpPr txBox="1"/>
          <p:nvPr/>
        </p:nvSpPr>
        <p:spPr>
          <a:xfrm>
            <a:off x="5486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0.34x</a:t>
            </a:r>
            <a:endParaRPr lang="en-US" sz="2200" dirty="0"/>
          </a:p>
        </p:txBody>
      </p:sp>
      <p:sp>
        <p:nvSpPr>
          <p:cNvPr id="19" name="Text 17"/>
          <p:cNvSpPr txBox="1"/>
          <p:nvPr/>
        </p:nvSpPr>
        <p:spPr>
          <a:xfrm>
            <a:off x="5486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Debt / Equity</a:t>
            </a:r>
            <a:endParaRPr lang="en-US" sz="950" dirty="0"/>
          </a:p>
        </p:txBody>
      </p:sp>
      <p:sp>
        <p:nvSpPr>
          <p:cNvPr id="20" name="Shape 18"/>
          <p:cNvSpPr/>
          <p:nvPr/>
        </p:nvSpPr>
        <p:spPr>
          <a:xfrm>
            <a:off x="2514600" y="3520440"/>
            <a:ext cx="1965960" cy="1051560"/>
          </a:xfrm>
          <a:prstGeom prst="roundRect">
            <a:avLst>
              <a:gd name="adj" fmla="val 6957"/>
            </a:avLst>
          </a:prstGeom>
          <a:solidFill>
            <a:srgbClr val="F1F4F8"/>
          </a:solidFill>
          <a:ln w="12700">
            <a:solidFill>
              <a:srgbClr val="F1F4F8"/>
            </a:solidFill>
            <a:prstDash val="solid"/>
          </a:ln>
        </p:spPr>
      </p:sp>
      <p:sp>
        <p:nvSpPr>
          <p:cNvPr id="21" name="Text 19"/>
          <p:cNvSpPr txBox="1"/>
          <p:nvPr/>
        </p:nvSpPr>
        <p:spPr>
          <a:xfrm>
            <a:off x="26060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+3.2%</a:t>
            </a:r>
            <a:endParaRPr lang="en-US" sz="2200" dirty="0"/>
          </a:p>
        </p:txBody>
      </p:sp>
      <p:sp>
        <p:nvSpPr>
          <p:cNvPr id="22" name="Text 20"/>
          <p:cNvSpPr txBox="1"/>
          <p:nvPr/>
        </p:nvSpPr>
        <p:spPr>
          <a:xfrm>
            <a:off x="26060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FY27E EPS growth</a:t>
            </a:r>
            <a:endParaRPr lang="en-US" sz="950" dirty="0"/>
          </a:p>
        </p:txBody>
      </p:sp>
      <p:sp>
        <p:nvSpPr>
          <p:cNvPr id="23" name="Text 21"/>
          <p:cNvSpPr txBox="1"/>
          <p:nvPr/>
        </p:nvSpPr>
        <p:spPr>
          <a:xfrm>
            <a:off x="4754880" y="1188720"/>
            <a:ext cx="3931920" cy="3474720"/>
          </a:xfrm>
          <a:prstGeom prst="rect">
            <a:avLst/>
          </a:prstGeom>
          <a:noFill/>
          <a:ln/>
        </p:spPr>
        <p:txBody>
          <a:bodyPr wrap="square" lIns="0" tIns="0" rIns="0" bIns="0" rtlCol="0" anchor="t"/>
          <a:lstStyle/>
          <a:p>
            <a:pPr marL="0" indent="0">
              <a:buNone/>
            </a:pPr>
            <a:r>
              <a:rPr lang="en-US" sz="1050" b="1" dirty="0">
                <a:solidFill>
                  <a:srgbClr val="1F3A5F"/>
                </a:solidFill>
                <a:latin typeface="Arial" pitchFamily="34" charset="0"/>
                <a:ea typeface="Arial" pitchFamily="34" charset="-122"/>
                <a:cs typeface="Arial" pitchFamily="34" charset="-120"/>
              </a:rPr>
              <a:t>Where it stands</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Largest producer, 200.1 MTPA, pan-India footprint</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2A9D8F"/>
                </a:solidFill>
                <a:latin typeface="Arial" pitchFamily="34" charset="0"/>
                <a:ea typeface="Arial" pitchFamily="34" charset="-122"/>
                <a:cs typeface="Arial" pitchFamily="34" charset="-120"/>
              </a:rPr>
              <a:t>Catalyst</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Domestic capacity to exceed 240 MTPA by FY28</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B03A2E"/>
                </a:solidFill>
                <a:latin typeface="Arial" pitchFamily="34" charset="0"/>
                <a:ea typeface="Arial" pitchFamily="34" charset="-122"/>
                <a:cs typeface="Arial" pitchFamily="34" charset="-120"/>
              </a:rPr>
              <a:t>Key risk</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Premium valuation relative to peers; exposed to fuel and freight inflation</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What would change our view</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EBITDA margin below ~18.0% (FY26: 19.2%)</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Revenue growth below ~9% (FY26: 16.5%)</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Rating</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OVERWEIGHT </a:t>
            </a:r>
            <a:r>
              <a:rPr lang="en-US" sz="1050" dirty="0" smtClean="0">
                <a:solidFill>
                  <a:srgbClr val="222B36"/>
                </a:solidFill>
                <a:latin typeface="Arial" pitchFamily="34" charset="0"/>
                <a:ea typeface="Arial" pitchFamily="34" charset="-122"/>
                <a:cs typeface="Arial" pitchFamily="34" charset="-120"/>
              </a:rPr>
              <a:t>. </a:t>
            </a:r>
            <a:r>
              <a:rPr lang="en-US" sz="1050" dirty="0">
                <a:solidFill>
                  <a:srgbClr val="222B36"/>
                </a:solidFill>
                <a:latin typeface="Arial" pitchFamily="34" charset="0"/>
                <a:ea typeface="Arial" pitchFamily="34" charset="-122"/>
                <a:cs typeface="Arial" pitchFamily="34" charset="-120"/>
              </a:rPr>
              <a:t>Short term neutral, long term neutral.</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Shree Cement: HOLD</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Best margins in the group, but the market already pays 45.2x for them. We expect the multiple to ease, so the base case is close to flat.</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21</a:t>
            </a:r>
            <a:endParaRPr lang="en-US" sz="900" dirty="0"/>
          </a:p>
        </p:txBody>
      </p:sp>
      <p:sp>
        <p:nvSpPr>
          <p:cNvPr id="5" name="Shape 3"/>
          <p:cNvSpPr/>
          <p:nvPr/>
        </p:nvSpPr>
        <p:spPr>
          <a:xfrm>
            <a:off x="457200" y="1234440"/>
            <a:ext cx="1965960" cy="1051560"/>
          </a:xfrm>
          <a:prstGeom prst="roundRect">
            <a:avLst>
              <a:gd name="adj" fmla="val 6957"/>
            </a:avLst>
          </a:prstGeom>
          <a:solidFill>
            <a:srgbClr val="F1F4F8"/>
          </a:solidFill>
          <a:ln w="12700">
            <a:solidFill>
              <a:srgbClr val="F1F4F8"/>
            </a:solidFill>
            <a:prstDash val="solid"/>
          </a:ln>
        </p:spPr>
      </p:sp>
      <p:sp>
        <p:nvSpPr>
          <p:cNvPr id="6" name="Text 4"/>
          <p:cNvSpPr txBox="1"/>
          <p:nvPr/>
        </p:nvSpPr>
        <p:spPr>
          <a:xfrm>
            <a:off x="5486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45.2x</a:t>
            </a:r>
            <a:endParaRPr lang="en-US" sz="2200" dirty="0"/>
          </a:p>
        </p:txBody>
      </p:sp>
      <p:sp>
        <p:nvSpPr>
          <p:cNvPr id="7" name="Text 5"/>
          <p:cNvSpPr txBox="1"/>
          <p:nvPr/>
        </p:nvSpPr>
        <p:spPr>
          <a:xfrm>
            <a:off x="5486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P/E vs peer median 33.2x</a:t>
            </a:r>
            <a:endParaRPr lang="en-US" sz="950" dirty="0"/>
          </a:p>
        </p:txBody>
      </p:sp>
      <p:sp>
        <p:nvSpPr>
          <p:cNvPr id="8" name="Shape 6"/>
          <p:cNvSpPr/>
          <p:nvPr/>
        </p:nvSpPr>
        <p:spPr>
          <a:xfrm>
            <a:off x="2514600" y="1234440"/>
            <a:ext cx="1965960" cy="1051560"/>
          </a:xfrm>
          <a:prstGeom prst="roundRect">
            <a:avLst>
              <a:gd name="adj" fmla="val 6957"/>
            </a:avLst>
          </a:prstGeom>
          <a:solidFill>
            <a:srgbClr val="F1F4F8"/>
          </a:solidFill>
          <a:ln w="12700">
            <a:solidFill>
              <a:srgbClr val="F1F4F8"/>
            </a:solidFill>
            <a:prstDash val="solid"/>
          </a:ln>
        </p:spPr>
      </p:sp>
      <p:sp>
        <p:nvSpPr>
          <p:cNvPr id="9" name="Text 7"/>
          <p:cNvSpPr txBox="1"/>
          <p:nvPr/>
        </p:nvSpPr>
        <p:spPr>
          <a:xfrm>
            <a:off x="26060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+0.6%</a:t>
            </a:r>
            <a:endParaRPr lang="en-US" sz="2200" dirty="0"/>
          </a:p>
        </p:txBody>
      </p:sp>
      <p:sp>
        <p:nvSpPr>
          <p:cNvPr id="10" name="Text 8"/>
          <p:cNvSpPr txBox="1"/>
          <p:nvPr/>
        </p:nvSpPr>
        <p:spPr>
          <a:xfrm>
            <a:off x="26060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Base-case upside, convergence-adjusted</a:t>
            </a:r>
            <a:endParaRPr lang="en-US" sz="950" dirty="0"/>
          </a:p>
        </p:txBody>
      </p:sp>
      <p:sp>
        <p:nvSpPr>
          <p:cNvPr id="11" name="Shape 9"/>
          <p:cNvSpPr/>
          <p:nvPr/>
        </p:nvSpPr>
        <p:spPr>
          <a:xfrm>
            <a:off x="457200" y="2377440"/>
            <a:ext cx="1965960" cy="1051560"/>
          </a:xfrm>
          <a:prstGeom prst="roundRect">
            <a:avLst>
              <a:gd name="adj" fmla="val 6957"/>
            </a:avLst>
          </a:prstGeom>
          <a:solidFill>
            <a:srgbClr val="F1F4F8"/>
          </a:solidFill>
          <a:ln w="12700">
            <a:solidFill>
              <a:srgbClr val="F1F4F8"/>
            </a:solidFill>
            <a:prstDash val="solid"/>
          </a:ln>
        </p:spPr>
      </p:sp>
      <p:sp>
        <p:nvSpPr>
          <p:cNvPr id="12" name="Text 10"/>
          <p:cNvSpPr txBox="1"/>
          <p:nvPr/>
        </p:nvSpPr>
        <p:spPr>
          <a:xfrm>
            <a:off x="5486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1.3%</a:t>
            </a:r>
            <a:endParaRPr lang="en-US" sz="2200" dirty="0"/>
          </a:p>
        </p:txBody>
      </p:sp>
      <p:sp>
        <p:nvSpPr>
          <p:cNvPr id="13" name="Text 11"/>
          <p:cNvSpPr txBox="1"/>
          <p:nvPr/>
        </p:nvSpPr>
        <p:spPr>
          <a:xfrm>
            <a:off x="5486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Two-year revenue CAGR</a:t>
            </a:r>
            <a:endParaRPr lang="en-US" sz="950" dirty="0"/>
          </a:p>
        </p:txBody>
      </p:sp>
      <p:sp>
        <p:nvSpPr>
          <p:cNvPr id="14" name="Shape 12"/>
          <p:cNvSpPr/>
          <p:nvPr/>
        </p:nvSpPr>
        <p:spPr>
          <a:xfrm>
            <a:off x="2514600" y="2377440"/>
            <a:ext cx="1965960" cy="1051560"/>
          </a:xfrm>
          <a:prstGeom prst="roundRect">
            <a:avLst>
              <a:gd name="adj" fmla="val 6957"/>
            </a:avLst>
          </a:prstGeom>
          <a:solidFill>
            <a:srgbClr val="F1F4F8"/>
          </a:solidFill>
          <a:ln w="12700">
            <a:solidFill>
              <a:srgbClr val="F1F4F8"/>
            </a:solidFill>
            <a:prstDash val="solid"/>
          </a:ln>
        </p:spPr>
      </p:sp>
      <p:sp>
        <p:nvSpPr>
          <p:cNvPr id="15" name="Text 13"/>
          <p:cNvSpPr txBox="1"/>
          <p:nvPr/>
        </p:nvSpPr>
        <p:spPr>
          <a:xfrm>
            <a:off x="26060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22.1%</a:t>
            </a:r>
            <a:endParaRPr lang="en-US" sz="2200" dirty="0"/>
          </a:p>
        </p:txBody>
      </p:sp>
      <p:sp>
        <p:nvSpPr>
          <p:cNvPr id="16" name="Text 14"/>
          <p:cNvSpPr txBox="1"/>
          <p:nvPr/>
        </p:nvSpPr>
        <p:spPr>
          <a:xfrm>
            <a:off x="26060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EBITDA margin; ROE 7.8%</a:t>
            </a:r>
            <a:endParaRPr lang="en-US" sz="950" dirty="0"/>
          </a:p>
        </p:txBody>
      </p:sp>
      <p:sp>
        <p:nvSpPr>
          <p:cNvPr id="17" name="Shape 15"/>
          <p:cNvSpPr/>
          <p:nvPr/>
        </p:nvSpPr>
        <p:spPr>
          <a:xfrm>
            <a:off x="457200" y="3520440"/>
            <a:ext cx="1965960" cy="1051560"/>
          </a:xfrm>
          <a:prstGeom prst="roundRect">
            <a:avLst>
              <a:gd name="adj" fmla="val 6957"/>
            </a:avLst>
          </a:prstGeom>
          <a:solidFill>
            <a:srgbClr val="F1F4F8"/>
          </a:solidFill>
          <a:ln w="12700">
            <a:solidFill>
              <a:srgbClr val="F1F4F8"/>
            </a:solidFill>
            <a:prstDash val="solid"/>
          </a:ln>
        </p:spPr>
      </p:sp>
      <p:sp>
        <p:nvSpPr>
          <p:cNvPr id="18" name="Text 16"/>
          <p:cNvSpPr txBox="1"/>
          <p:nvPr/>
        </p:nvSpPr>
        <p:spPr>
          <a:xfrm>
            <a:off x="5486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0.08x</a:t>
            </a:r>
            <a:endParaRPr lang="en-US" sz="2200" dirty="0"/>
          </a:p>
        </p:txBody>
      </p:sp>
      <p:sp>
        <p:nvSpPr>
          <p:cNvPr id="19" name="Text 17"/>
          <p:cNvSpPr txBox="1"/>
          <p:nvPr/>
        </p:nvSpPr>
        <p:spPr>
          <a:xfrm>
            <a:off x="5486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Debt / Equity</a:t>
            </a:r>
            <a:endParaRPr lang="en-US" sz="950" dirty="0"/>
          </a:p>
        </p:txBody>
      </p:sp>
      <p:sp>
        <p:nvSpPr>
          <p:cNvPr id="20" name="Shape 18"/>
          <p:cNvSpPr/>
          <p:nvPr/>
        </p:nvSpPr>
        <p:spPr>
          <a:xfrm>
            <a:off x="2514600" y="3520440"/>
            <a:ext cx="1965960" cy="1051560"/>
          </a:xfrm>
          <a:prstGeom prst="roundRect">
            <a:avLst>
              <a:gd name="adj" fmla="val 6957"/>
            </a:avLst>
          </a:prstGeom>
          <a:solidFill>
            <a:srgbClr val="F1F4F8"/>
          </a:solidFill>
          <a:ln w="12700">
            <a:solidFill>
              <a:srgbClr val="F1F4F8"/>
            </a:solidFill>
            <a:prstDash val="solid"/>
          </a:ln>
        </p:spPr>
      </p:sp>
      <p:sp>
        <p:nvSpPr>
          <p:cNvPr id="21" name="Text 19"/>
          <p:cNvSpPr txBox="1"/>
          <p:nvPr/>
        </p:nvSpPr>
        <p:spPr>
          <a:xfrm>
            <a:off x="26060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+0.1%</a:t>
            </a:r>
            <a:endParaRPr lang="en-US" sz="2200" dirty="0"/>
          </a:p>
        </p:txBody>
      </p:sp>
      <p:sp>
        <p:nvSpPr>
          <p:cNvPr id="22" name="Text 20"/>
          <p:cNvSpPr txBox="1"/>
          <p:nvPr/>
        </p:nvSpPr>
        <p:spPr>
          <a:xfrm>
            <a:off x="26060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FY27E EPS growth</a:t>
            </a:r>
            <a:endParaRPr lang="en-US" sz="950" dirty="0"/>
          </a:p>
        </p:txBody>
      </p:sp>
      <p:sp>
        <p:nvSpPr>
          <p:cNvPr id="23" name="Text 21"/>
          <p:cNvSpPr txBox="1"/>
          <p:nvPr/>
        </p:nvSpPr>
        <p:spPr>
          <a:xfrm>
            <a:off x="4754880" y="1188720"/>
            <a:ext cx="3931920" cy="3474720"/>
          </a:xfrm>
          <a:prstGeom prst="rect">
            <a:avLst/>
          </a:prstGeom>
          <a:noFill/>
          <a:ln/>
        </p:spPr>
        <p:txBody>
          <a:bodyPr wrap="square" lIns="0" tIns="0" rIns="0" bIns="0" rtlCol="0" anchor="t"/>
          <a:lstStyle/>
          <a:p>
            <a:pPr marL="0" indent="0">
              <a:buNone/>
            </a:pPr>
            <a:r>
              <a:rPr lang="en-US" sz="1050" b="1" dirty="0">
                <a:solidFill>
                  <a:srgbClr val="1F3A5F"/>
                </a:solidFill>
                <a:latin typeface="Arial" pitchFamily="34" charset="0"/>
                <a:ea typeface="Arial" pitchFamily="34" charset="-122"/>
                <a:cs typeface="Arial" pitchFamily="34" charset="-120"/>
              </a:rPr>
              <a:t>Where it stands</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Highest EBITDA margin in the peer set; 69.3 MTPA, strong in North India</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2A9D8F"/>
                </a:solidFill>
                <a:latin typeface="Arial" pitchFamily="34" charset="0"/>
                <a:ea typeface="Arial" pitchFamily="34" charset="-122"/>
                <a:cs typeface="Arial" pitchFamily="34" charset="-120"/>
              </a:rPr>
              <a:t>Catalyst</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New 3.0 MTPA line at Jaitaran (Feb-2026); target 80+ MTPA</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B03A2E"/>
                </a:solidFill>
                <a:latin typeface="Arial" pitchFamily="34" charset="0"/>
                <a:ea typeface="Arial" pitchFamily="34" charset="-122"/>
                <a:cs typeface="Arial" pitchFamily="34" charset="-120"/>
              </a:rPr>
              <a:t>Key risk</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Slow revenue growth; richest P/E in the set</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What would change our view</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EBITDA margin below ~21.0% (FY26: 22.1%)</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Revenue growth below ~5% (FY26: 8.6%)</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Rating</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HOLD </a:t>
            </a:r>
            <a:r>
              <a:rPr lang="en-US" sz="1050" dirty="0" smtClean="0">
                <a:solidFill>
                  <a:srgbClr val="222B36"/>
                </a:solidFill>
                <a:latin typeface="Arial" pitchFamily="34" charset="0"/>
                <a:ea typeface="Arial" pitchFamily="34" charset="-122"/>
                <a:cs typeface="Arial" pitchFamily="34" charset="-120"/>
              </a:rPr>
              <a:t>. </a:t>
            </a:r>
            <a:r>
              <a:rPr lang="en-US" sz="1050" dirty="0">
                <a:solidFill>
                  <a:srgbClr val="222B36"/>
                </a:solidFill>
                <a:latin typeface="Arial" pitchFamily="34" charset="0"/>
                <a:ea typeface="Arial" pitchFamily="34" charset="-122"/>
                <a:cs typeface="Arial" pitchFamily="34" charset="-120"/>
              </a:rPr>
              <a:t>Short term neutral, long term neutral.</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Ambuja Cements: OVERWEIGHT</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Cheapest on the screen with almost no debt. Headline upside is flattered by one-off profit, so we count on only half the re-rating.</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22</a:t>
            </a:r>
            <a:endParaRPr lang="en-US" sz="900" dirty="0"/>
          </a:p>
        </p:txBody>
      </p:sp>
      <p:sp>
        <p:nvSpPr>
          <p:cNvPr id="5" name="Shape 3"/>
          <p:cNvSpPr/>
          <p:nvPr/>
        </p:nvSpPr>
        <p:spPr>
          <a:xfrm>
            <a:off x="457200" y="1234440"/>
            <a:ext cx="1965960" cy="1051560"/>
          </a:xfrm>
          <a:prstGeom prst="roundRect">
            <a:avLst>
              <a:gd name="adj" fmla="val 6957"/>
            </a:avLst>
          </a:prstGeom>
          <a:solidFill>
            <a:srgbClr val="F1F4F8"/>
          </a:solidFill>
          <a:ln w="12700">
            <a:solidFill>
              <a:srgbClr val="F1F4F8"/>
            </a:solidFill>
            <a:prstDash val="solid"/>
          </a:ln>
        </p:spPr>
      </p:sp>
      <p:sp>
        <p:nvSpPr>
          <p:cNvPr id="6" name="Text 4"/>
          <p:cNvSpPr txBox="1"/>
          <p:nvPr/>
        </p:nvSpPr>
        <p:spPr>
          <a:xfrm>
            <a:off x="5486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20.7x</a:t>
            </a:r>
            <a:endParaRPr lang="en-US" sz="2200" dirty="0"/>
          </a:p>
        </p:txBody>
      </p:sp>
      <p:sp>
        <p:nvSpPr>
          <p:cNvPr id="7" name="Text 5"/>
          <p:cNvSpPr txBox="1"/>
          <p:nvPr/>
        </p:nvSpPr>
        <p:spPr>
          <a:xfrm>
            <a:off x="5486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P/E vs peer median 39.1x</a:t>
            </a:r>
            <a:endParaRPr lang="en-US" sz="950" dirty="0"/>
          </a:p>
        </p:txBody>
      </p:sp>
      <p:sp>
        <p:nvSpPr>
          <p:cNvPr id="8" name="Shape 6"/>
          <p:cNvSpPr/>
          <p:nvPr/>
        </p:nvSpPr>
        <p:spPr>
          <a:xfrm>
            <a:off x="2514600" y="1234440"/>
            <a:ext cx="1965960" cy="1051560"/>
          </a:xfrm>
          <a:prstGeom prst="roundRect">
            <a:avLst>
              <a:gd name="adj" fmla="val 6957"/>
            </a:avLst>
          </a:prstGeom>
          <a:solidFill>
            <a:srgbClr val="F1F4F8"/>
          </a:solidFill>
          <a:ln w="12700">
            <a:solidFill>
              <a:srgbClr val="F1F4F8"/>
            </a:solidFill>
            <a:prstDash val="solid"/>
          </a:ln>
        </p:spPr>
      </p:sp>
      <p:sp>
        <p:nvSpPr>
          <p:cNvPr id="9" name="Text 7"/>
          <p:cNvSpPr txBox="1"/>
          <p:nvPr/>
        </p:nvSpPr>
        <p:spPr>
          <a:xfrm>
            <a:off x="26060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+49.8%</a:t>
            </a:r>
            <a:endParaRPr lang="en-US" sz="2200" dirty="0"/>
          </a:p>
        </p:txBody>
      </p:sp>
      <p:sp>
        <p:nvSpPr>
          <p:cNvPr id="10" name="Text 8"/>
          <p:cNvSpPr txBox="1"/>
          <p:nvPr/>
        </p:nvSpPr>
        <p:spPr>
          <a:xfrm>
            <a:off x="26060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Base-case upside, convergence-adjusted</a:t>
            </a:r>
            <a:endParaRPr lang="en-US" sz="950" dirty="0"/>
          </a:p>
        </p:txBody>
      </p:sp>
      <p:sp>
        <p:nvSpPr>
          <p:cNvPr id="11" name="Shape 9"/>
          <p:cNvSpPr/>
          <p:nvPr/>
        </p:nvSpPr>
        <p:spPr>
          <a:xfrm>
            <a:off x="457200" y="2377440"/>
            <a:ext cx="1965960" cy="1051560"/>
          </a:xfrm>
          <a:prstGeom prst="roundRect">
            <a:avLst>
              <a:gd name="adj" fmla="val 6957"/>
            </a:avLst>
          </a:prstGeom>
          <a:solidFill>
            <a:srgbClr val="F1F4F8"/>
          </a:solidFill>
          <a:ln w="12700">
            <a:solidFill>
              <a:srgbClr val="F1F4F8"/>
            </a:solidFill>
            <a:prstDash val="solid"/>
          </a:ln>
        </p:spPr>
      </p:sp>
      <p:sp>
        <p:nvSpPr>
          <p:cNvPr id="12" name="Text 10"/>
          <p:cNvSpPr txBox="1"/>
          <p:nvPr/>
        </p:nvSpPr>
        <p:spPr>
          <a:xfrm>
            <a:off x="5486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10.7%</a:t>
            </a:r>
            <a:endParaRPr lang="en-US" sz="2200" dirty="0"/>
          </a:p>
        </p:txBody>
      </p:sp>
      <p:sp>
        <p:nvSpPr>
          <p:cNvPr id="13" name="Text 11"/>
          <p:cNvSpPr txBox="1"/>
          <p:nvPr/>
        </p:nvSpPr>
        <p:spPr>
          <a:xfrm>
            <a:off x="5486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Two-year revenue CAGR</a:t>
            </a:r>
            <a:endParaRPr lang="en-US" sz="950" dirty="0"/>
          </a:p>
        </p:txBody>
      </p:sp>
      <p:sp>
        <p:nvSpPr>
          <p:cNvPr id="14" name="Shape 12"/>
          <p:cNvSpPr/>
          <p:nvPr/>
        </p:nvSpPr>
        <p:spPr>
          <a:xfrm>
            <a:off x="2514600" y="2377440"/>
            <a:ext cx="1965960" cy="1051560"/>
          </a:xfrm>
          <a:prstGeom prst="roundRect">
            <a:avLst>
              <a:gd name="adj" fmla="val 6957"/>
            </a:avLst>
          </a:prstGeom>
          <a:solidFill>
            <a:srgbClr val="F1F4F8"/>
          </a:solidFill>
          <a:ln w="12700">
            <a:solidFill>
              <a:srgbClr val="F1F4F8"/>
            </a:solidFill>
            <a:prstDash val="solid"/>
          </a:ln>
        </p:spPr>
      </p:sp>
      <p:sp>
        <p:nvSpPr>
          <p:cNvPr id="15" name="Text 13"/>
          <p:cNvSpPr txBox="1"/>
          <p:nvPr/>
        </p:nvSpPr>
        <p:spPr>
          <a:xfrm>
            <a:off x="26060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15.7%</a:t>
            </a:r>
            <a:endParaRPr lang="en-US" sz="2200" dirty="0"/>
          </a:p>
        </p:txBody>
      </p:sp>
      <p:sp>
        <p:nvSpPr>
          <p:cNvPr id="16" name="Text 14"/>
          <p:cNvSpPr txBox="1"/>
          <p:nvPr/>
        </p:nvSpPr>
        <p:spPr>
          <a:xfrm>
            <a:off x="26060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EBITDA margin; ROE 9.0%</a:t>
            </a:r>
            <a:endParaRPr lang="en-US" sz="950" dirty="0"/>
          </a:p>
        </p:txBody>
      </p:sp>
      <p:sp>
        <p:nvSpPr>
          <p:cNvPr id="17" name="Shape 15"/>
          <p:cNvSpPr/>
          <p:nvPr/>
        </p:nvSpPr>
        <p:spPr>
          <a:xfrm>
            <a:off x="457200" y="3520440"/>
            <a:ext cx="1965960" cy="1051560"/>
          </a:xfrm>
          <a:prstGeom prst="roundRect">
            <a:avLst>
              <a:gd name="adj" fmla="val 6957"/>
            </a:avLst>
          </a:prstGeom>
          <a:solidFill>
            <a:srgbClr val="F1F4F8"/>
          </a:solidFill>
          <a:ln w="12700">
            <a:solidFill>
              <a:srgbClr val="F1F4F8"/>
            </a:solidFill>
            <a:prstDash val="solid"/>
          </a:ln>
        </p:spPr>
      </p:sp>
      <p:sp>
        <p:nvSpPr>
          <p:cNvPr id="18" name="Text 16"/>
          <p:cNvSpPr txBox="1"/>
          <p:nvPr/>
        </p:nvSpPr>
        <p:spPr>
          <a:xfrm>
            <a:off x="5486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0.02x</a:t>
            </a:r>
            <a:endParaRPr lang="en-US" sz="2200" dirty="0"/>
          </a:p>
        </p:txBody>
      </p:sp>
      <p:sp>
        <p:nvSpPr>
          <p:cNvPr id="19" name="Text 17"/>
          <p:cNvSpPr txBox="1"/>
          <p:nvPr/>
        </p:nvSpPr>
        <p:spPr>
          <a:xfrm>
            <a:off x="5486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Debt / Equity</a:t>
            </a:r>
            <a:endParaRPr lang="en-US" sz="950" dirty="0"/>
          </a:p>
        </p:txBody>
      </p:sp>
      <p:sp>
        <p:nvSpPr>
          <p:cNvPr id="20" name="Shape 18"/>
          <p:cNvSpPr/>
          <p:nvPr/>
        </p:nvSpPr>
        <p:spPr>
          <a:xfrm>
            <a:off x="2514600" y="3520440"/>
            <a:ext cx="1965960" cy="1051560"/>
          </a:xfrm>
          <a:prstGeom prst="roundRect">
            <a:avLst>
              <a:gd name="adj" fmla="val 6957"/>
            </a:avLst>
          </a:prstGeom>
          <a:solidFill>
            <a:srgbClr val="F1F4F8"/>
          </a:solidFill>
          <a:ln w="12700">
            <a:solidFill>
              <a:srgbClr val="F1F4F8"/>
            </a:solidFill>
            <a:prstDash val="solid"/>
          </a:ln>
        </p:spPr>
      </p:sp>
      <p:sp>
        <p:nvSpPr>
          <p:cNvPr id="21" name="Text 19"/>
          <p:cNvSpPr txBox="1"/>
          <p:nvPr/>
        </p:nvSpPr>
        <p:spPr>
          <a:xfrm>
            <a:off x="26060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-8.5%</a:t>
            </a:r>
            <a:endParaRPr lang="en-US" sz="2200" dirty="0"/>
          </a:p>
        </p:txBody>
      </p:sp>
      <p:sp>
        <p:nvSpPr>
          <p:cNvPr id="22" name="Text 20"/>
          <p:cNvSpPr txBox="1"/>
          <p:nvPr/>
        </p:nvSpPr>
        <p:spPr>
          <a:xfrm>
            <a:off x="26060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FY27E EPS growth</a:t>
            </a:r>
            <a:endParaRPr lang="en-US" sz="950" dirty="0"/>
          </a:p>
        </p:txBody>
      </p:sp>
      <p:sp>
        <p:nvSpPr>
          <p:cNvPr id="23" name="Text 21"/>
          <p:cNvSpPr txBox="1"/>
          <p:nvPr/>
        </p:nvSpPr>
        <p:spPr>
          <a:xfrm>
            <a:off x="4754880" y="1188720"/>
            <a:ext cx="3931920" cy="3474720"/>
          </a:xfrm>
          <a:prstGeom prst="rect">
            <a:avLst/>
          </a:prstGeom>
          <a:noFill/>
          <a:ln/>
        </p:spPr>
        <p:txBody>
          <a:bodyPr wrap="square" lIns="0" tIns="0" rIns="0" bIns="0" rtlCol="0" anchor="t"/>
          <a:lstStyle/>
          <a:p>
            <a:pPr marL="0" indent="0">
              <a:buNone/>
            </a:pPr>
            <a:r>
              <a:rPr lang="en-US" sz="1050" b="1" dirty="0">
                <a:solidFill>
                  <a:srgbClr val="1F3A5F"/>
                </a:solidFill>
                <a:latin typeface="Arial" pitchFamily="34" charset="0"/>
                <a:ea typeface="Arial" pitchFamily="34" charset="-122"/>
                <a:cs typeface="Arial" pitchFamily="34" charset="-120"/>
              </a:rPr>
              <a:t>Where it stands</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109 MTPA across Ambuja and ACC; almost debt free</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2A9D8F"/>
                </a:solidFill>
                <a:latin typeface="Arial" pitchFamily="34" charset="0"/>
                <a:ea typeface="Arial" pitchFamily="34" charset="-122"/>
                <a:cs typeface="Arial" pitchFamily="34" charset="-120"/>
              </a:rPr>
              <a:t>Catalyst</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Target 119 MTPA by end FY27; integration of acquired capacity</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B03A2E"/>
                </a:solidFill>
                <a:latin typeface="Arial" pitchFamily="34" charset="0"/>
                <a:ea typeface="Arial" pitchFamily="34" charset="-122"/>
                <a:cs typeface="Arial" pitchFamily="34" charset="-120"/>
              </a:rPr>
              <a:t>Key risk</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Lowest EBITDA margin in the set; FY26 profit includes non-recurring items</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What would change our view</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EBITDA margin below ~14.5% (FY26: 15.7%)</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Revenue growth below ~10% (FY26: 15.1%)</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Rating</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OVERWEIGHT </a:t>
            </a:r>
            <a:r>
              <a:rPr lang="en-US" sz="1050" dirty="0" smtClean="0">
                <a:solidFill>
                  <a:srgbClr val="222B36"/>
                </a:solidFill>
                <a:latin typeface="Arial" pitchFamily="34" charset="0"/>
                <a:ea typeface="Arial" pitchFamily="34" charset="-122"/>
                <a:cs typeface="Arial" pitchFamily="34" charset="-120"/>
              </a:rPr>
              <a:t>. </a:t>
            </a:r>
            <a:r>
              <a:rPr lang="en-US" sz="1050" dirty="0">
                <a:solidFill>
                  <a:srgbClr val="222B36"/>
                </a:solidFill>
                <a:latin typeface="Arial" pitchFamily="34" charset="0"/>
                <a:ea typeface="Arial" pitchFamily="34" charset="-122"/>
                <a:cs typeface="Arial" pitchFamily="34" charset="-120"/>
              </a:rPr>
              <a:t>Short term cautious, long term limited.</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JK Cement: HOLD</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Best ROE and the fastest expansion plan, but debt of 0.87x equity and a 39.2x P/E leave little cushion if margins slip.</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23</a:t>
            </a:r>
            <a:endParaRPr lang="en-US" sz="900" dirty="0"/>
          </a:p>
        </p:txBody>
      </p:sp>
      <p:sp>
        <p:nvSpPr>
          <p:cNvPr id="5" name="Shape 3"/>
          <p:cNvSpPr/>
          <p:nvPr/>
        </p:nvSpPr>
        <p:spPr>
          <a:xfrm>
            <a:off x="457200" y="1234440"/>
            <a:ext cx="1965960" cy="1051560"/>
          </a:xfrm>
          <a:prstGeom prst="roundRect">
            <a:avLst>
              <a:gd name="adj" fmla="val 6957"/>
            </a:avLst>
          </a:prstGeom>
          <a:solidFill>
            <a:srgbClr val="F1F4F8"/>
          </a:solidFill>
          <a:ln w="12700">
            <a:solidFill>
              <a:srgbClr val="F1F4F8"/>
            </a:solidFill>
            <a:prstDash val="solid"/>
          </a:ln>
        </p:spPr>
      </p:sp>
      <p:sp>
        <p:nvSpPr>
          <p:cNvPr id="6" name="Text 4"/>
          <p:cNvSpPr txBox="1"/>
          <p:nvPr/>
        </p:nvSpPr>
        <p:spPr>
          <a:xfrm>
            <a:off x="5486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39.2x</a:t>
            </a:r>
            <a:endParaRPr lang="en-US" sz="2200" dirty="0"/>
          </a:p>
        </p:txBody>
      </p:sp>
      <p:sp>
        <p:nvSpPr>
          <p:cNvPr id="7" name="Text 5"/>
          <p:cNvSpPr txBox="1"/>
          <p:nvPr/>
        </p:nvSpPr>
        <p:spPr>
          <a:xfrm>
            <a:off x="5486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P/E vs peer median 33.2x</a:t>
            </a:r>
            <a:endParaRPr lang="en-US" sz="950" dirty="0"/>
          </a:p>
        </p:txBody>
      </p:sp>
      <p:sp>
        <p:nvSpPr>
          <p:cNvPr id="8" name="Shape 6"/>
          <p:cNvSpPr/>
          <p:nvPr/>
        </p:nvSpPr>
        <p:spPr>
          <a:xfrm>
            <a:off x="2514600" y="1234440"/>
            <a:ext cx="1965960" cy="1051560"/>
          </a:xfrm>
          <a:prstGeom prst="roundRect">
            <a:avLst>
              <a:gd name="adj" fmla="val 6957"/>
            </a:avLst>
          </a:prstGeom>
          <a:solidFill>
            <a:srgbClr val="F1F4F8"/>
          </a:solidFill>
          <a:ln w="12700">
            <a:solidFill>
              <a:srgbClr val="F1F4F8"/>
            </a:solidFill>
            <a:prstDash val="solid"/>
          </a:ln>
        </p:spPr>
      </p:sp>
      <p:sp>
        <p:nvSpPr>
          <p:cNvPr id="9" name="Text 7"/>
          <p:cNvSpPr txBox="1"/>
          <p:nvPr/>
        </p:nvSpPr>
        <p:spPr>
          <a:xfrm>
            <a:off x="26060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+15.7%</a:t>
            </a:r>
            <a:endParaRPr lang="en-US" sz="2200" dirty="0"/>
          </a:p>
        </p:txBody>
      </p:sp>
      <p:sp>
        <p:nvSpPr>
          <p:cNvPr id="10" name="Text 8"/>
          <p:cNvSpPr txBox="1"/>
          <p:nvPr/>
        </p:nvSpPr>
        <p:spPr>
          <a:xfrm>
            <a:off x="26060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Base-case upside, convergence-adjusted</a:t>
            </a:r>
            <a:endParaRPr lang="en-US" sz="950" dirty="0"/>
          </a:p>
        </p:txBody>
      </p:sp>
      <p:sp>
        <p:nvSpPr>
          <p:cNvPr id="11" name="Shape 9"/>
          <p:cNvSpPr/>
          <p:nvPr/>
        </p:nvSpPr>
        <p:spPr>
          <a:xfrm>
            <a:off x="457200" y="2377440"/>
            <a:ext cx="1965960" cy="1051560"/>
          </a:xfrm>
          <a:prstGeom prst="roundRect">
            <a:avLst>
              <a:gd name="adj" fmla="val 6957"/>
            </a:avLst>
          </a:prstGeom>
          <a:solidFill>
            <a:srgbClr val="F1F4F8"/>
          </a:solidFill>
          <a:ln w="12700">
            <a:solidFill>
              <a:srgbClr val="F1F4F8"/>
            </a:solidFill>
            <a:prstDash val="solid"/>
          </a:ln>
        </p:spPr>
      </p:sp>
      <p:sp>
        <p:nvSpPr>
          <p:cNvPr id="12" name="Text 10"/>
          <p:cNvSpPr txBox="1"/>
          <p:nvPr/>
        </p:nvSpPr>
        <p:spPr>
          <a:xfrm>
            <a:off x="5486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9.0%</a:t>
            </a:r>
            <a:endParaRPr lang="en-US" sz="2200" dirty="0"/>
          </a:p>
        </p:txBody>
      </p:sp>
      <p:sp>
        <p:nvSpPr>
          <p:cNvPr id="13" name="Text 11"/>
          <p:cNvSpPr txBox="1"/>
          <p:nvPr/>
        </p:nvSpPr>
        <p:spPr>
          <a:xfrm>
            <a:off x="5486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Two-year revenue CAGR</a:t>
            </a:r>
            <a:endParaRPr lang="en-US" sz="950" dirty="0"/>
          </a:p>
        </p:txBody>
      </p:sp>
      <p:sp>
        <p:nvSpPr>
          <p:cNvPr id="14" name="Shape 12"/>
          <p:cNvSpPr/>
          <p:nvPr/>
        </p:nvSpPr>
        <p:spPr>
          <a:xfrm>
            <a:off x="2514600" y="2377440"/>
            <a:ext cx="1965960" cy="1051560"/>
          </a:xfrm>
          <a:prstGeom prst="roundRect">
            <a:avLst>
              <a:gd name="adj" fmla="val 6957"/>
            </a:avLst>
          </a:prstGeom>
          <a:solidFill>
            <a:srgbClr val="F1F4F8"/>
          </a:solidFill>
          <a:ln w="12700">
            <a:solidFill>
              <a:srgbClr val="F1F4F8"/>
            </a:solidFill>
            <a:prstDash val="solid"/>
          </a:ln>
        </p:spPr>
      </p:sp>
      <p:sp>
        <p:nvSpPr>
          <p:cNvPr id="15" name="Text 13"/>
          <p:cNvSpPr txBox="1"/>
          <p:nvPr/>
        </p:nvSpPr>
        <p:spPr>
          <a:xfrm>
            <a:off x="26060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17.3%</a:t>
            </a:r>
            <a:endParaRPr lang="en-US" sz="2200" dirty="0"/>
          </a:p>
        </p:txBody>
      </p:sp>
      <p:sp>
        <p:nvSpPr>
          <p:cNvPr id="16" name="Text 14"/>
          <p:cNvSpPr txBox="1"/>
          <p:nvPr/>
        </p:nvSpPr>
        <p:spPr>
          <a:xfrm>
            <a:off x="26060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EBITDA margin; ROE 14.3%</a:t>
            </a:r>
            <a:endParaRPr lang="en-US" sz="950" dirty="0"/>
          </a:p>
        </p:txBody>
      </p:sp>
      <p:sp>
        <p:nvSpPr>
          <p:cNvPr id="17" name="Shape 15"/>
          <p:cNvSpPr/>
          <p:nvPr/>
        </p:nvSpPr>
        <p:spPr>
          <a:xfrm>
            <a:off x="457200" y="3520440"/>
            <a:ext cx="1965960" cy="1051560"/>
          </a:xfrm>
          <a:prstGeom prst="roundRect">
            <a:avLst>
              <a:gd name="adj" fmla="val 6957"/>
            </a:avLst>
          </a:prstGeom>
          <a:solidFill>
            <a:srgbClr val="F1F4F8"/>
          </a:solidFill>
          <a:ln w="12700">
            <a:solidFill>
              <a:srgbClr val="F1F4F8"/>
            </a:solidFill>
            <a:prstDash val="solid"/>
          </a:ln>
        </p:spPr>
      </p:sp>
      <p:sp>
        <p:nvSpPr>
          <p:cNvPr id="18" name="Text 16"/>
          <p:cNvSpPr txBox="1"/>
          <p:nvPr/>
        </p:nvSpPr>
        <p:spPr>
          <a:xfrm>
            <a:off x="5486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0.87x</a:t>
            </a:r>
            <a:endParaRPr lang="en-US" sz="2200" dirty="0"/>
          </a:p>
        </p:txBody>
      </p:sp>
      <p:sp>
        <p:nvSpPr>
          <p:cNvPr id="19" name="Text 17"/>
          <p:cNvSpPr txBox="1"/>
          <p:nvPr/>
        </p:nvSpPr>
        <p:spPr>
          <a:xfrm>
            <a:off x="5486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Debt / Equity</a:t>
            </a:r>
            <a:endParaRPr lang="en-US" sz="950" dirty="0"/>
          </a:p>
        </p:txBody>
      </p:sp>
      <p:sp>
        <p:nvSpPr>
          <p:cNvPr id="20" name="Shape 18"/>
          <p:cNvSpPr/>
          <p:nvPr/>
        </p:nvSpPr>
        <p:spPr>
          <a:xfrm>
            <a:off x="2514600" y="3520440"/>
            <a:ext cx="1965960" cy="1051560"/>
          </a:xfrm>
          <a:prstGeom prst="roundRect">
            <a:avLst>
              <a:gd name="adj" fmla="val 6957"/>
            </a:avLst>
          </a:prstGeom>
          <a:solidFill>
            <a:srgbClr val="F1F4F8"/>
          </a:solidFill>
          <a:ln w="12700">
            <a:solidFill>
              <a:srgbClr val="F1F4F8"/>
            </a:solidFill>
            <a:prstDash val="solid"/>
          </a:ln>
        </p:spPr>
      </p:sp>
      <p:sp>
        <p:nvSpPr>
          <p:cNvPr id="21" name="Text 19"/>
          <p:cNvSpPr txBox="1"/>
          <p:nvPr/>
        </p:nvSpPr>
        <p:spPr>
          <a:xfrm>
            <a:off x="26060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+2.2%</a:t>
            </a:r>
            <a:endParaRPr lang="en-US" sz="2200" dirty="0"/>
          </a:p>
        </p:txBody>
      </p:sp>
      <p:sp>
        <p:nvSpPr>
          <p:cNvPr id="22" name="Text 20"/>
          <p:cNvSpPr txBox="1"/>
          <p:nvPr/>
        </p:nvSpPr>
        <p:spPr>
          <a:xfrm>
            <a:off x="26060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FY27E EPS growth</a:t>
            </a:r>
            <a:endParaRPr lang="en-US" sz="950" dirty="0"/>
          </a:p>
        </p:txBody>
      </p:sp>
      <p:sp>
        <p:nvSpPr>
          <p:cNvPr id="23" name="Text 21"/>
          <p:cNvSpPr txBox="1"/>
          <p:nvPr/>
        </p:nvSpPr>
        <p:spPr>
          <a:xfrm>
            <a:off x="4754880" y="1188720"/>
            <a:ext cx="3931920" cy="3474720"/>
          </a:xfrm>
          <a:prstGeom prst="rect">
            <a:avLst/>
          </a:prstGeom>
          <a:noFill/>
          <a:ln/>
        </p:spPr>
        <p:txBody>
          <a:bodyPr wrap="square" lIns="0" tIns="0" rIns="0" bIns="0" rtlCol="0" anchor="t"/>
          <a:lstStyle/>
          <a:p>
            <a:pPr marL="0" indent="0">
              <a:buNone/>
            </a:pPr>
            <a:r>
              <a:rPr lang="en-US" sz="1050" b="1" dirty="0">
                <a:solidFill>
                  <a:srgbClr val="1F3A5F"/>
                </a:solidFill>
                <a:latin typeface="Arial" pitchFamily="34" charset="0"/>
                <a:ea typeface="Arial" pitchFamily="34" charset="-122"/>
                <a:cs typeface="Arial" pitchFamily="34" charset="-120"/>
              </a:rPr>
              <a:t>Where it stands</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32.26 MTPA grey cement plus white cement and wall putty</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2A9D8F"/>
                </a:solidFill>
                <a:latin typeface="Arial" pitchFamily="34" charset="0"/>
                <a:ea typeface="Arial" pitchFamily="34" charset="-122"/>
                <a:cs typeface="Arial" pitchFamily="34" charset="-120"/>
              </a:rPr>
              <a:t>Catalyst</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Plan to reach about 50 MTPA by FY30</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B03A2E"/>
                </a:solidFill>
                <a:latin typeface="Arial" pitchFamily="34" charset="0"/>
                <a:ea typeface="Arial" pitchFamily="34" charset="-122"/>
                <a:cs typeface="Arial" pitchFamily="34" charset="-120"/>
              </a:rPr>
              <a:t>Key risk</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Highest debt/equity in the set; richest P/B</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What would change our view</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EBITDA margin below ~16.0% (FY26: 17.3%)</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Revenue growth below ~10% (FY26: 15.5%)</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Rating</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HOLD </a:t>
            </a:r>
            <a:r>
              <a:rPr lang="en-US" sz="1050" dirty="0" smtClean="0">
                <a:solidFill>
                  <a:srgbClr val="222B36"/>
                </a:solidFill>
                <a:latin typeface="Arial" pitchFamily="34" charset="0"/>
                <a:ea typeface="Arial" pitchFamily="34" charset="-122"/>
                <a:cs typeface="Arial" pitchFamily="34" charset="-120"/>
              </a:rPr>
              <a:t>Short </a:t>
            </a:r>
            <a:r>
              <a:rPr lang="en-US" sz="1050" dirty="0">
                <a:solidFill>
                  <a:srgbClr val="222B36"/>
                </a:solidFill>
                <a:latin typeface="Arial" pitchFamily="34" charset="0"/>
                <a:ea typeface="Arial" pitchFamily="34" charset="-122"/>
                <a:cs typeface="Arial" pitchFamily="34" charset="-120"/>
              </a:rPr>
              <a:t>term neutral, long term positive.</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Dalmia Bharat: HOLD</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Strong margins and low leverage at a discount, held back by flat revenue and Southern overcapacity. Wait for volume growth.</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24</a:t>
            </a:r>
            <a:endParaRPr lang="en-US" sz="900" dirty="0"/>
          </a:p>
        </p:txBody>
      </p:sp>
      <p:sp>
        <p:nvSpPr>
          <p:cNvPr id="5" name="Shape 3"/>
          <p:cNvSpPr/>
          <p:nvPr/>
        </p:nvSpPr>
        <p:spPr>
          <a:xfrm>
            <a:off x="457200" y="1234440"/>
            <a:ext cx="1965960" cy="1051560"/>
          </a:xfrm>
          <a:prstGeom prst="roundRect">
            <a:avLst>
              <a:gd name="adj" fmla="val 6957"/>
            </a:avLst>
          </a:prstGeom>
          <a:solidFill>
            <a:srgbClr val="F1F4F8"/>
          </a:solidFill>
          <a:ln w="12700">
            <a:solidFill>
              <a:srgbClr val="F1F4F8"/>
            </a:solidFill>
            <a:prstDash val="solid"/>
          </a:ln>
        </p:spPr>
      </p:sp>
      <p:sp>
        <p:nvSpPr>
          <p:cNvPr id="6" name="Text 4"/>
          <p:cNvSpPr txBox="1"/>
          <p:nvPr/>
        </p:nvSpPr>
        <p:spPr>
          <a:xfrm>
            <a:off x="5486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27.4x</a:t>
            </a:r>
            <a:endParaRPr lang="en-US" sz="2200" dirty="0"/>
          </a:p>
        </p:txBody>
      </p:sp>
      <p:sp>
        <p:nvSpPr>
          <p:cNvPr id="7" name="Text 5"/>
          <p:cNvSpPr txBox="1"/>
          <p:nvPr/>
        </p:nvSpPr>
        <p:spPr>
          <a:xfrm>
            <a:off x="5486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P/E vs peer median 39.1x</a:t>
            </a:r>
            <a:endParaRPr lang="en-US" sz="950" dirty="0"/>
          </a:p>
        </p:txBody>
      </p:sp>
      <p:sp>
        <p:nvSpPr>
          <p:cNvPr id="8" name="Shape 6"/>
          <p:cNvSpPr/>
          <p:nvPr/>
        </p:nvSpPr>
        <p:spPr>
          <a:xfrm>
            <a:off x="2514600" y="1234440"/>
            <a:ext cx="1965960" cy="1051560"/>
          </a:xfrm>
          <a:prstGeom prst="roundRect">
            <a:avLst>
              <a:gd name="adj" fmla="val 6957"/>
            </a:avLst>
          </a:prstGeom>
          <a:solidFill>
            <a:srgbClr val="F1F4F8"/>
          </a:solidFill>
          <a:ln w="12700">
            <a:solidFill>
              <a:srgbClr val="F1F4F8"/>
            </a:solidFill>
            <a:prstDash val="solid"/>
          </a:ln>
        </p:spPr>
      </p:sp>
      <p:sp>
        <p:nvSpPr>
          <p:cNvPr id="9" name="Text 7"/>
          <p:cNvSpPr txBox="1"/>
          <p:nvPr/>
        </p:nvSpPr>
        <p:spPr>
          <a:xfrm>
            <a:off x="2606040" y="1307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+33.4%</a:t>
            </a:r>
            <a:endParaRPr lang="en-US" sz="2200" dirty="0"/>
          </a:p>
        </p:txBody>
      </p:sp>
      <p:sp>
        <p:nvSpPr>
          <p:cNvPr id="10" name="Text 8"/>
          <p:cNvSpPr txBox="1"/>
          <p:nvPr/>
        </p:nvSpPr>
        <p:spPr>
          <a:xfrm>
            <a:off x="2606040" y="1812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Base-case upside, convergence-adjusted</a:t>
            </a:r>
            <a:endParaRPr lang="en-US" sz="950" dirty="0"/>
          </a:p>
        </p:txBody>
      </p:sp>
      <p:sp>
        <p:nvSpPr>
          <p:cNvPr id="11" name="Shape 9"/>
          <p:cNvSpPr/>
          <p:nvPr/>
        </p:nvSpPr>
        <p:spPr>
          <a:xfrm>
            <a:off x="457200" y="2377440"/>
            <a:ext cx="1965960" cy="1051560"/>
          </a:xfrm>
          <a:prstGeom prst="roundRect">
            <a:avLst>
              <a:gd name="adj" fmla="val 6957"/>
            </a:avLst>
          </a:prstGeom>
          <a:solidFill>
            <a:srgbClr val="F1F4F8"/>
          </a:solidFill>
          <a:ln w="12700">
            <a:solidFill>
              <a:srgbClr val="F1F4F8"/>
            </a:solidFill>
            <a:prstDash val="solid"/>
          </a:ln>
        </p:spPr>
      </p:sp>
      <p:sp>
        <p:nvSpPr>
          <p:cNvPr id="12" name="Text 10"/>
          <p:cNvSpPr txBox="1"/>
          <p:nvPr/>
        </p:nvSpPr>
        <p:spPr>
          <a:xfrm>
            <a:off x="5486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0.4%</a:t>
            </a:r>
            <a:endParaRPr lang="en-US" sz="2200" dirty="0"/>
          </a:p>
        </p:txBody>
      </p:sp>
      <p:sp>
        <p:nvSpPr>
          <p:cNvPr id="13" name="Text 11"/>
          <p:cNvSpPr txBox="1"/>
          <p:nvPr/>
        </p:nvSpPr>
        <p:spPr>
          <a:xfrm>
            <a:off x="5486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Two-year revenue CAGR</a:t>
            </a:r>
            <a:endParaRPr lang="en-US" sz="950" dirty="0"/>
          </a:p>
        </p:txBody>
      </p:sp>
      <p:sp>
        <p:nvSpPr>
          <p:cNvPr id="14" name="Shape 12"/>
          <p:cNvSpPr/>
          <p:nvPr/>
        </p:nvSpPr>
        <p:spPr>
          <a:xfrm>
            <a:off x="2514600" y="2377440"/>
            <a:ext cx="1965960" cy="1051560"/>
          </a:xfrm>
          <a:prstGeom prst="roundRect">
            <a:avLst>
              <a:gd name="adj" fmla="val 6957"/>
            </a:avLst>
          </a:prstGeom>
          <a:solidFill>
            <a:srgbClr val="F1F4F8"/>
          </a:solidFill>
          <a:ln w="12700">
            <a:solidFill>
              <a:srgbClr val="F1F4F8"/>
            </a:solidFill>
            <a:prstDash val="solid"/>
          </a:ln>
        </p:spPr>
      </p:sp>
      <p:sp>
        <p:nvSpPr>
          <p:cNvPr id="15" name="Text 13"/>
          <p:cNvSpPr txBox="1"/>
          <p:nvPr/>
        </p:nvSpPr>
        <p:spPr>
          <a:xfrm>
            <a:off x="2606040" y="2450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20.8%</a:t>
            </a:r>
            <a:endParaRPr lang="en-US" sz="2200" dirty="0"/>
          </a:p>
        </p:txBody>
      </p:sp>
      <p:sp>
        <p:nvSpPr>
          <p:cNvPr id="16" name="Text 14"/>
          <p:cNvSpPr txBox="1"/>
          <p:nvPr/>
        </p:nvSpPr>
        <p:spPr>
          <a:xfrm>
            <a:off x="2606040" y="2955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EBITDA margin; ROE 6.4%</a:t>
            </a:r>
            <a:endParaRPr lang="en-US" sz="950" dirty="0"/>
          </a:p>
        </p:txBody>
      </p:sp>
      <p:sp>
        <p:nvSpPr>
          <p:cNvPr id="17" name="Shape 15"/>
          <p:cNvSpPr/>
          <p:nvPr/>
        </p:nvSpPr>
        <p:spPr>
          <a:xfrm>
            <a:off x="457200" y="3520440"/>
            <a:ext cx="1965960" cy="1051560"/>
          </a:xfrm>
          <a:prstGeom prst="roundRect">
            <a:avLst>
              <a:gd name="adj" fmla="val 6957"/>
            </a:avLst>
          </a:prstGeom>
          <a:solidFill>
            <a:srgbClr val="F1F4F8"/>
          </a:solidFill>
          <a:ln w="12700">
            <a:solidFill>
              <a:srgbClr val="F1F4F8"/>
            </a:solidFill>
            <a:prstDash val="solid"/>
          </a:ln>
        </p:spPr>
      </p:sp>
      <p:sp>
        <p:nvSpPr>
          <p:cNvPr id="18" name="Text 16"/>
          <p:cNvSpPr txBox="1"/>
          <p:nvPr/>
        </p:nvSpPr>
        <p:spPr>
          <a:xfrm>
            <a:off x="5486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0.41x</a:t>
            </a:r>
            <a:endParaRPr lang="en-US" sz="2200" dirty="0"/>
          </a:p>
        </p:txBody>
      </p:sp>
      <p:sp>
        <p:nvSpPr>
          <p:cNvPr id="19" name="Text 17"/>
          <p:cNvSpPr txBox="1"/>
          <p:nvPr/>
        </p:nvSpPr>
        <p:spPr>
          <a:xfrm>
            <a:off x="5486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Debt / Equity</a:t>
            </a:r>
            <a:endParaRPr lang="en-US" sz="950" dirty="0"/>
          </a:p>
        </p:txBody>
      </p:sp>
      <p:sp>
        <p:nvSpPr>
          <p:cNvPr id="20" name="Shape 18"/>
          <p:cNvSpPr/>
          <p:nvPr/>
        </p:nvSpPr>
        <p:spPr>
          <a:xfrm>
            <a:off x="2514600" y="3520440"/>
            <a:ext cx="1965960" cy="1051560"/>
          </a:xfrm>
          <a:prstGeom prst="roundRect">
            <a:avLst>
              <a:gd name="adj" fmla="val 6957"/>
            </a:avLst>
          </a:prstGeom>
          <a:solidFill>
            <a:srgbClr val="F1F4F8"/>
          </a:solidFill>
          <a:ln w="12700">
            <a:solidFill>
              <a:srgbClr val="F1F4F8"/>
            </a:solidFill>
            <a:prstDash val="solid"/>
          </a:ln>
        </p:spPr>
      </p:sp>
      <p:sp>
        <p:nvSpPr>
          <p:cNvPr id="21" name="Text 19"/>
          <p:cNvSpPr txBox="1"/>
          <p:nvPr/>
        </p:nvSpPr>
        <p:spPr>
          <a:xfrm>
            <a:off x="2606040" y="3593592"/>
            <a:ext cx="1783080" cy="525780"/>
          </a:xfrm>
          <a:prstGeom prst="rect">
            <a:avLst/>
          </a:prstGeom>
          <a:noFill/>
          <a:ln/>
        </p:spPr>
        <p:txBody>
          <a:bodyPr wrap="square" lIns="0" tIns="0" rIns="0" bIns="0" rtlCol="0" anchor="ctr"/>
          <a:lstStyle/>
          <a:p>
            <a:pPr marL="0" indent="0">
              <a:buNone/>
            </a:pPr>
            <a:r>
              <a:rPr lang="en-US" sz="2200" b="1" dirty="0">
                <a:solidFill>
                  <a:srgbClr val="1F3A5F"/>
                </a:solidFill>
                <a:latin typeface="Arial" pitchFamily="34" charset="0"/>
                <a:ea typeface="Arial" pitchFamily="34" charset="-122"/>
                <a:cs typeface="Arial" pitchFamily="34" charset="-120"/>
              </a:rPr>
              <a:t>-2.4%</a:t>
            </a:r>
            <a:endParaRPr lang="en-US" sz="2200" dirty="0"/>
          </a:p>
        </p:txBody>
      </p:sp>
      <p:sp>
        <p:nvSpPr>
          <p:cNvPr id="22" name="Text 20"/>
          <p:cNvSpPr txBox="1"/>
          <p:nvPr/>
        </p:nvSpPr>
        <p:spPr>
          <a:xfrm>
            <a:off x="2606040" y="4098798"/>
            <a:ext cx="1783080" cy="420624"/>
          </a:xfrm>
          <a:prstGeom prst="rect">
            <a:avLst/>
          </a:prstGeom>
          <a:noFill/>
          <a:ln/>
        </p:spPr>
        <p:txBody>
          <a:bodyPr wrap="square" lIns="0" tIns="0" rIns="0" bIns="0" rtlCol="0" anchor="t"/>
          <a:lstStyle/>
          <a:p>
            <a:pPr marL="0" indent="0">
              <a:buNone/>
            </a:pPr>
            <a:r>
              <a:rPr lang="en-US" sz="950" dirty="0">
                <a:solidFill>
                  <a:srgbClr val="5B6675"/>
                </a:solidFill>
                <a:latin typeface="Arial" pitchFamily="34" charset="0"/>
                <a:ea typeface="Arial" pitchFamily="34" charset="-122"/>
                <a:cs typeface="Arial" pitchFamily="34" charset="-120"/>
              </a:rPr>
              <a:t>FY27E EPS growth</a:t>
            </a:r>
            <a:endParaRPr lang="en-US" sz="950" dirty="0"/>
          </a:p>
        </p:txBody>
      </p:sp>
      <p:sp>
        <p:nvSpPr>
          <p:cNvPr id="23" name="Text 21"/>
          <p:cNvSpPr txBox="1"/>
          <p:nvPr/>
        </p:nvSpPr>
        <p:spPr>
          <a:xfrm>
            <a:off x="4754880" y="1188720"/>
            <a:ext cx="3931920" cy="3474720"/>
          </a:xfrm>
          <a:prstGeom prst="rect">
            <a:avLst/>
          </a:prstGeom>
          <a:noFill/>
          <a:ln/>
        </p:spPr>
        <p:txBody>
          <a:bodyPr wrap="square" lIns="0" tIns="0" rIns="0" bIns="0" rtlCol="0" anchor="t"/>
          <a:lstStyle/>
          <a:p>
            <a:pPr marL="0" indent="0">
              <a:buNone/>
            </a:pPr>
            <a:r>
              <a:rPr lang="en-US" sz="1050" b="1" dirty="0">
                <a:solidFill>
                  <a:srgbClr val="1F3A5F"/>
                </a:solidFill>
                <a:latin typeface="Arial" pitchFamily="34" charset="0"/>
                <a:ea typeface="Arial" pitchFamily="34" charset="-122"/>
                <a:cs typeface="Arial" pitchFamily="34" charset="-120"/>
              </a:rPr>
              <a:t>Where it stands</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54.7 MTPA after acquisition; South and East focus</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2A9D8F"/>
                </a:solidFill>
                <a:latin typeface="Arial" pitchFamily="34" charset="0"/>
                <a:ea typeface="Arial" pitchFamily="34" charset="-122"/>
                <a:cs typeface="Arial" pitchFamily="34" charset="-120"/>
              </a:rPr>
              <a:t>Catalyst</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Target about 67 MTPA by FY28</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B03A2E"/>
                </a:solidFill>
                <a:latin typeface="Arial" pitchFamily="34" charset="0"/>
                <a:ea typeface="Arial" pitchFamily="34" charset="-122"/>
                <a:cs typeface="Arial" pitchFamily="34" charset="-120"/>
              </a:rPr>
              <a:t>Key risk</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Southern capacity overhang (ICRA); flat revenue over two years</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What would change our view</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EBITDA margin below ~18.0% (FY26: 20.8%)</a:t>
            </a:r>
            <a:endParaRPr lang="en-US" sz="1050" dirty="0"/>
          </a:p>
          <a:p>
            <a:pPr marL="342900" indent="-342900">
              <a:buSzPct val="100000"/>
              <a:buChar char="•"/>
            </a:pPr>
            <a:r>
              <a:rPr lang="en-US" sz="1050" dirty="0">
                <a:solidFill>
                  <a:srgbClr val="222B36"/>
                </a:solidFill>
                <a:latin typeface="Arial" pitchFamily="34" charset="0"/>
                <a:ea typeface="Arial" pitchFamily="34" charset="-122"/>
                <a:cs typeface="Arial" pitchFamily="34" charset="-120"/>
              </a:rPr>
              <a:t>Revenue growth below ~4% (FY26: 5.9%)</a:t>
            </a:r>
            <a:endParaRPr lang="en-US" sz="1050" dirty="0"/>
          </a:p>
          <a:p>
            <a:pPr marL="0" indent="0">
              <a:buNone/>
            </a:pPr>
            <a:r>
              <a:rPr lang="en-US" sz="400" dirty="0">
                <a:solidFill>
                  <a:srgbClr val="222B36"/>
                </a:solidFill>
                <a:latin typeface="Arial" pitchFamily="34" charset="0"/>
                <a:ea typeface="Arial" pitchFamily="34" charset="-122"/>
                <a:cs typeface="Arial" pitchFamily="34" charset="-120"/>
              </a:rPr>
              <a:t> </a:t>
            </a:r>
            <a:endParaRPr lang="en-US" sz="1050" dirty="0"/>
          </a:p>
          <a:p>
            <a:pPr marL="0" indent="0">
              <a:buNone/>
            </a:pPr>
            <a:r>
              <a:rPr lang="en-US" sz="1050" b="1" dirty="0">
                <a:solidFill>
                  <a:srgbClr val="1F3A5F"/>
                </a:solidFill>
                <a:latin typeface="Arial" pitchFamily="34" charset="0"/>
                <a:ea typeface="Arial" pitchFamily="34" charset="-122"/>
                <a:cs typeface="Arial" pitchFamily="34" charset="-120"/>
              </a:rPr>
              <a:t>Rating</a:t>
            </a:r>
            <a:endParaRPr lang="en-US" sz="1050" dirty="0"/>
          </a:p>
          <a:p>
            <a:pPr marL="0" indent="0">
              <a:buNone/>
            </a:pPr>
            <a:r>
              <a:rPr lang="en-US" sz="1050" dirty="0">
                <a:solidFill>
                  <a:srgbClr val="222B36"/>
                </a:solidFill>
                <a:latin typeface="Arial" pitchFamily="34" charset="0"/>
                <a:ea typeface="Arial" pitchFamily="34" charset="-122"/>
                <a:cs typeface="Arial" pitchFamily="34" charset="-120"/>
              </a:rPr>
              <a:t>HOLD </a:t>
            </a:r>
            <a:r>
              <a:rPr lang="en-US" sz="1050" dirty="0" smtClean="0">
                <a:solidFill>
                  <a:srgbClr val="222B36"/>
                </a:solidFill>
                <a:latin typeface="Arial" pitchFamily="34" charset="0"/>
                <a:ea typeface="Arial" pitchFamily="34" charset="-122"/>
                <a:cs typeface="Arial" pitchFamily="34" charset="-120"/>
              </a:rPr>
              <a:t>,Short </a:t>
            </a:r>
            <a:r>
              <a:rPr lang="en-US" sz="1050" dirty="0">
                <a:solidFill>
                  <a:srgbClr val="222B36"/>
                </a:solidFill>
                <a:latin typeface="Arial" pitchFamily="34" charset="0"/>
                <a:ea typeface="Arial" pitchFamily="34" charset="-122"/>
                <a:cs typeface="Arial" pitchFamily="34" charset="-120"/>
              </a:rPr>
              <a:t>term cautious, long term positive.</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Final recommendation: short term and long term</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r>
              <a:rPr lang="en-US" sz="1100" dirty="0">
                <a:solidFill>
                  <a:srgbClr val="5B6675"/>
                </a:solidFill>
                <a:latin typeface="Arial" pitchFamily="34" charset="0"/>
                <a:ea typeface="Arial" pitchFamily="34" charset="-122"/>
                <a:cs typeface="Arial" pitchFamily="34" charset="-120"/>
              </a:rPr>
              <a:t>Short term looks at FY27E earnings growth; long term at planned capacity growth.</a:t>
            </a: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25</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2523744"/>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3749040">
                  <a:extLst>
                    <a:ext uri="{9D8B030D-6E8A-4147-A177-3AD203B41FA5}">
                      <a16:colId xmlns:a16="http://schemas.microsoft.com/office/drawing/2014/main" val="20004"/>
                    </a:ext>
                  </a:extLst>
                </a:gridCol>
              </a:tblGrid>
              <a:tr h="420624">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Company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Rating</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Short term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Long term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Main reason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42062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UltraTech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1B7F5A"/>
                          </a:solidFill>
                          <a:latin typeface="Arial" pitchFamily="34" charset="0"/>
                          <a:ea typeface="Arial" pitchFamily="34" charset="-122"/>
                          <a:cs typeface="Arial" pitchFamily="34" charset="-120"/>
                        </a:rPr>
                        <a:t>OVERWEIGHT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Neutral</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Neutral</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Quality leader; upside from earnings growth, but narrow</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Shree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5B6675"/>
                          </a:solidFill>
                          <a:latin typeface="Arial" pitchFamily="34" charset="0"/>
                          <a:ea typeface="Arial" pitchFamily="34" charset="-122"/>
                          <a:cs typeface="Arial" pitchFamily="34" charset="-120"/>
                        </a:rPr>
                        <a:t>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Neutral</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Neutral</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Fully valued; strong margins already priced in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Ambuja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1B7F5A"/>
                          </a:solidFill>
                          <a:latin typeface="Arial" pitchFamily="34" charset="0"/>
                          <a:ea typeface="Arial" pitchFamily="34" charset="-122"/>
                          <a:cs typeface="Arial" pitchFamily="34" charset="-120"/>
                        </a:rPr>
                        <a:t>OVERWEIGHT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Cautious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Limited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Cheapest and debt free; one-off profit caps conviction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JK Cement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5B6675"/>
                          </a:solidFill>
                          <a:latin typeface="Arial" pitchFamily="34" charset="0"/>
                          <a:ea typeface="Arial" pitchFamily="34" charset="-122"/>
                          <a:cs typeface="Arial" pitchFamily="34" charset="-120"/>
                        </a:rPr>
                        <a:t>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Neutral</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Positive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Best ROE, but debt and a rich P/B limit upside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420624">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Dalmia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b="1" dirty="0">
                          <a:solidFill>
                            <a:srgbClr val="5B6675"/>
                          </a:solidFill>
                          <a:latin typeface="Arial" pitchFamily="34" charset="0"/>
                          <a:ea typeface="Arial" pitchFamily="34" charset="-122"/>
                          <a:cs typeface="Arial" pitchFamily="34" charset="-120"/>
                        </a:rPr>
                        <a:t>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Cautious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ctr">
                        <a:buNone/>
                      </a:pPr>
                      <a:r>
                        <a:rPr lang="en-US" sz="1000" dirty="0">
                          <a:solidFill>
                            <a:srgbClr val="222B36"/>
                          </a:solidFill>
                          <a:latin typeface="Arial" pitchFamily="34" charset="0"/>
                          <a:ea typeface="Arial" pitchFamily="34" charset="-122"/>
                          <a:cs typeface="Arial" pitchFamily="34" charset="-120"/>
                        </a:rPr>
                        <a:t>Positive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Cheap with low debt; revenue growth is the missing piece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txBox="1"/>
          <p:nvPr/>
        </p:nvSpPr>
        <p:spPr>
          <a:xfrm>
            <a:off x="457200" y="3886200"/>
            <a:ext cx="8229600" cy="86868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22B36"/>
                </a:solidFill>
                <a:latin typeface="Arial" pitchFamily="34" charset="0"/>
                <a:ea typeface="Arial" pitchFamily="34" charset="-122"/>
                <a:cs typeface="Arial" pitchFamily="34" charset="-120"/>
              </a:rPr>
              <a:t>Short term: FY27 earnings growth is muted everywhere because of fuel and freight costs; Ambuja and Dalmia see EPS dip before recovering.</a:t>
            </a:r>
            <a:endParaRPr lang="en-US" sz="1050" dirty="0"/>
          </a:p>
          <a:p>
            <a:pPr marL="342900" indent="-342900">
              <a:spcAft>
                <a:spcPts val="300"/>
              </a:spcAft>
              <a:buSzPct val="100000"/>
              <a:buChar char="•"/>
            </a:pPr>
            <a:r>
              <a:rPr lang="en-US" sz="1050" dirty="0">
                <a:solidFill>
                  <a:srgbClr val="222B36"/>
                </a:solidFill>
                <a:latin typeface="Arial" pitchFamily="34" charset="0"/>
                <a:ea typeface="Arial" pitchFamily="34" charset="-122"/>
                <a:cs typeface="Arial" pitchFamily="34" charset="-120"/>
              </a:rPr>
              <a:t>Long term: capacity plans favour JK Cement (+55%) and Dalmia (+22%), but JK's debt limits how much of that growth reaches shareholders.</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28600"/>
            <a:ext cx="8229600" cy="457200"/>
          </a:xfrm>
          <a:prstGeom prst="rect">
            <a:avLst/>
          </a:prstGeom>
          <a:noFill/>
          <a:ln/>
        </p:spPr>
        <p:txBody>
          <a:bodyPr wrap="square" lIns="0" tIns="0" rIns="0" bIns="0" rtlCol="0" anchor="ctr"/>
          <a:lstStyle/>
          <a:p>
            <a:pPr marL="0" indent="0">
              <a:buNone/>
            </a:pPr>
            <a:r>
              <a:rPr lang="en-US" sz="2100" b="1" dirty="0">
                <a:solidFill>
                  <a:srgbClr val="1F3A5F"/>
                </a:solidFill>
                <a:latin typeface="Arial" pitchFamily="34" charset="0"/>
                <a:ea typeface="Arial" pitchFamily="34" charset="-122"/>
                <a:cs typeface="Arial" pitchFamily="34" charset="-120"/>
              </a:rPr>
              <a:t>Data </a:t>
            </a:r>
            <a:r>
              <a:rPr lang="en-US" sz="2100" b="1" dirty="0" smtClean="0">
                <a:solidFill>
                  <a:srgbClr val="1F3A5F"/>
                </a:solidFill>
                <a:latin typeface="Arial" pitchFamily="34" charset="0"/>
                <a:ea typeface="Arial" pitchFamily="34" charset="-122"/>
                <a:cs typeface="Arial" pitchFamily="34" charset="-120"/>
              </a:rPr>
              <a:t>notes</a:t>
            </a:r>
            <a:endParaRPr lang="en-US" sz="2100" dirty="0"/>
          </a:p>
        </p:txBody>
      </p:sp>
      <p:sp>
        <p:nvSpPr>
          <p:cNvPr id="3" name="Text 1"/>
          <p:cNvSpPr txBox="1"/>
          <p:nvPr/>
        </p:nvSpPr>
        <p:spPr>
          <a:xfrm>
            <a:off x="457200" y="685800"/>
            <a:ext cx="8229600" cy="320040"/>
          </a:xfrm>
          <a:prstGeom prst="rect">
            <a:avLst/>
          </a:prstGeom>
          <a:noFill/>
          <a:ln/>
        </p:spPr>
        <p:txBody>
          <a:bodyPr wrap="square" lIns="0" tIns="0" rIns="0" bIns="0" rtlCol="0" anchor="ctr"/>
          <a:lstStyle/>
          <a:p>
            <a:pPr marL="0" indent="0">
              <a:buNone/>
            </a:pPr>
            <a:endParaRPr lang="en-US" sz="1100" dirty="0"/>
          </a:p>
        </p:txBody>
      </p:sp>
      <p:sp>
        <p:nvSpPr>
          <p:cNvPr id="4" name="Text 2"/>
          <p:cNvSpPr txBox="1"/>
          <p:nvPr/>
        </p:nvSpPr>
        <p:spPr>
          <a:xfrm>
            <a:off x="8412480" y="4828032"/>
            <a:ext cx="365760" cy="201168"/>
          </a:xfrm>
          <a:prstGeom prst="rect">
            <a:avLst/>
          </a:prstGeom>
          <a:noFill/>
          <a:ln/>
        </p:spPr>
        <p:txBody>
          <a:bodyPr wrap="square" lIns="0" tIns="0" rIns="0" bIns="0" rtlCol="0" anchor="ctr"/>
          <a:lstStyle/>
          <a:p>
            <a:pPr marL="0" indent="0" algn="r">
              <a:buNone/>
            </a:pPr>
            <a:r>
              <a:rPr lang="en-US" sz="900" dirty="0">
                <a:solidFill>
                  <a:srgbClr val="5B6675"/>
                </a:solidFill>
                <a:latin typeface="Arial" pitchFamily="34" charset="0"/>
                <a:ea typeface="Arial" pitchFamily="34" charset="-122"/>
                <a:cs typeface="Arial" pitchFamily="34" charset="-120"/>
              </a:rPr>
              <a:t>26</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688336"/>
        </p:xfrm>
        <a:graphic>
          <a:graphicData uri="http://schemas.openxmlformats.org/drawingml/2006/table">
            <a:tbl>
              <a:tblPr/>
              <a:tblGrid>
                <a:gridCol w="21945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84048">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Item</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Basis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tc>
                  <a:txBody>
                    <a:bodyPr/>
                    <a:lstStyle/>
                    <a:p>
                      <a:pPr marL="0" indent="0" algn="ctr">
                        <a:buNone/>
                      </a:pPr>
                      <a:r>
                        <a:rPr lang="en-US" sz="1000" b="1" dirty="0">
                          <a:solidFill>
                            <a:srgbClr val="FFFFFF"/>
                          </a:solidFill>
                          <a:latin typeface="Arial" pitchFamily="34" charset="0"/>
                          <a:ea typeface="Arial" pitchFamily="34" charset="-122"/>
                          <a:cs typeface="Arial" pitchFamily="34" charset="-120"/>
                        </a:rPr>
                        <a:t>Tested effect on ratings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JK Cement FY25 EBITDA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Derived from reported FY26 growth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None; used in one margin chart only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Shree EBITDA</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Sum of quarterly operating profits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None at plus or minus 5%</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Equity and share counts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Book value per share x shares; market cap / price</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None at plus or minus 5%</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Shree and JK debt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Reported Debt/Equity x equity</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None at plus or minus 20%</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FY27-28 margins</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Analyst assumption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100 bps lower turns UltraTech to hold, JK to underweight</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lgn="l">
                        <a:buNone/>
                      </a:pPr>
                      <a:r>
                        <a:rPr lang="en-US" sz="1000" b="1" dirty="0">
                          <a:solidFill>
                            <a:srgbClr val="222B36"/>
                          </a:solidFill>
                          <a:latin typeface="Arial" pitchFamily="34" charset="0"/>
                          <a:ea typeface="Arial" pitchFamily="34" charset="-122"/>
                          <a:cs typeface="Arial" pitchFamily="34" charset="-120"/>
                        </a:rPr>
                        <a:t>FY27-28 revenue growth</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Analyst assumption</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tc>
                  <a:txBody>
                    <a:bodyPr/>
                    <a:lstStyle/>
                    <a:p>
                      <a:pPr marL="0" indent="0" algn="l">
                        <a:buNone/>
                      </a:pPr>
                      <a:r>
                        <a:rPr lang="en-US" sz="1000" dirty="0">
                          <a:solidFill>
                            <a:srgbClr val="222B36"/>
                          </a:solidFill>
                          <a:latin typeface="Arial" pitchFamily="34" charset="0"/>
                          <a:ea typeface="Arial" pitchFamily="34" charset="-122"/>
                          <a:cs typeface="Arial" pitchFamily="34" charset="-120"/>
                        </a:rPr>
                        <a:t>2 points lower turns UltraTech to hold</a:t>
                      </a:r>
                      <a:endParaRPr lang="en-US" sz="1000" dirty="0">
                        <a:latin typeface="Arial" charset="0"/>
                        <a:ea typeface="Arial" charset="0"/>
                        <a:cs typeface="Arial" charset="0"/>
                      </a:endParaRPr>
                    </a:p>
                  </a:txBody>
                  <a:tcPr marL="54864" marR="54864" marT="27432" marB="27432" anchor="ctr">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txBox="1"/>
          <p:nvPr/>
        </p:nvSpPr>
        <p:spPr>
          <a:xfrm>
            <a:off x="457200" y="4023360"/>
            <a:ext cx="8229600" cy="731520"/>
          </a:xfrm>
          <a:prstGeom prst="rect">
            <a:avLst/>
          </a:prstGeom>
          <a:noFill/>
          <a:ln/>
        </p:spPr>
        <p:txBody>
          <a:bodyPr wrap="square" lIns="0" tIns="0" rIns="0" bIns="0" rtlCol="0" anchor="t"/>
          <a:lstStyle/>
          <a:p>
            <a:pPr marL="0" indent="0">
              <a:buNone/>
            </a:pPr>
            <a:r>
              <a:rPr lang="en-US" sz="1050" dirty="0" smtClean="0">
                <a:solidFill>
                  <a:srgbClr val="222B36"/>
                </a:solidFill>
                <a:latin typeface="Arial" pitchFamily="34" charset="0"/>
                <a:ea typeface="Arial" pitchFamily="34" charset="-122"/>
                <a:cs typeface="Arial" pitchFamily="34" charset="-120"/>
              </a:rPr>
              <a: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3047</Words>
  <Application>Microsoft Office PowerPoint</Application>
  <PresentationFormat>On-screen Show (16:9)</PresentationFormat>
  <Paragraphs>509</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Cement Sector: Research and Investment Recommendation</dc:title>
  <dc:subject>PptxGenJS Presentation</dc:subject>
  <dc:creator>PptxGenJS</dc:creator>
  <cp:lastModifiedBy>asus</cp:lastModifiedBy>
  <cp:revision>3</cp:revision>
  <dcterms:created xsi:type="dcterms:W3CDTF">2026-10-07T10:18:24Z</dcterms:created>
  <dcterms:modified xsi:type="dcterms:W3CDTF">2026-10-07T11:51:38Z</dcterms:modified>
</cp:coreProperties>
</file>